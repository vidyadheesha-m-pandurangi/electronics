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32907"/>
            <a:ext cx="812419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8163" y="1197283"/>
            <a:ext cx="10535920" cy="1948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2831" y="134321"/>
            <a:ext cx="656780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82955" marR="5080" indent="-77089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0000"/>
                </a:solidFill>
              </a:rPr>
              <a:t>ADHIYAMAAN</a:t>
            </a:r>
            <a:r>
              <a:rPr dirty="0" sz="2400" spc="-40">
                <a:solidFill>
                  <a:srgbClr val="FF0000"/>
                </a:solidFill>
              </a:rPr>
              <a:t> </a:t>
            </a:r>
            <a:r>
              <a:rPr dirty="0" sz="2400">
                <a:solidFill>
                  <a:srgbClr val="FF0000"/>
                </a:solidFill>
              </a:rPr>
              <a:t>COLLEGE</a:t>
            </a:r>
            <a:r>
              <a:rPr dirty="0" sz="2400" spc="-35">
                <a:solidFill>
                  <a:srgbClr val="FF0000"/>
                </a:solidFill>
              </a:rPr>
              <a:t> </a:t>
            </a:r>
            <a:r>
              <a:rPr dirty="0" sz="2400">
                <a:solidFill>
                  <a:srgbClr val="FF0000"/>
                </a:solidFill>
              </a:rPr>
              <a:t>OF</a:t>
            </a:r>
            <a:r>
              <a:rPr dirty="0" sz="2400" spc="-40">
                <a:solidFill>
                  <a:srgbClr val="FF0000"/>
                </a:solidFill>
              </a:rPr>
              <a:t> </a:t>
            </a:r>
            <a:r>
              <a:rPr dirty="0" sz="2400" spc="-10">
                <a:solidFill>
                  <a:srgbClr val="FF0000"/>
                </a:solidFill>
              </a:rPr>
              <a:t>ENGINEERING </a:t>
            </a:r>
            <a:r>
              <a:rPr dirty="0" sz="2400">
                <a:solidFill>
                  <a:srgbClr val="FF0000"/>
                </a:solidFill>
              </a:rPr>
              <a:t>(AN</a:t>
            </a:r>
            <a:r>
              <a:rPr dirty="0" sz="2400" spc="-80">
                <a:solidFill>
                  <a:srgbClr val="FF0000"/>
                </a:solidFill>
              </a:rPr>
              <a:t> </a:t>
            </a:r>
            <a:r>
              <a:rPr dirty="0" sz="2400">
                <a:solidFill>
                  <a:srgbClr val="FF0000"/>
                </a:solidFill>
              </a:rPr>
              <a:t>AUTONOMOUS</a:t>
            </a:r>
            <a:r>
              <a:rPr dirty="0" sz="2400" spc="-75">
                <a:solidFill>
                  <a:srgbClr val="FF0000"/>
                </a:solidFill>
              </a:rPr>
              <a:t> </a:t>
            </a:r>
            <a:r>
              <a:rPr dirty="0" sz="2400" spc="-10">
                <a:solidFill>
                  <a:srgbClr val="FF0000"/>
                </a:solidFill>
              </a:rPr>
              <a:t>INSTITUTION)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68183" y="868456"/>
            <a:ext cx="11600815" cy="3129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77470">
              <a:lnSpc>
                <a:spcPts val="1914"/>
              </a:lnSpc>
              <a:spcBef>
                <a:spcPts val="100"/>
              </a:spcBef>
            </a:pP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Approved</a:t>
            </a:r>
            <a:r>
              <a:rPr dirty="0" sz="1600" spc="-30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by</a:t>
            </a:r>
            <a:r>
              <a:rPr dirty="0" sz="1600" spc="-25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AICTE,</a:t>
            </a:r>
            <a:r>
              <a:rPr dirty="0" sz="1600" spc="-30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Affiliated</a:t>
            </a:r>
            <a:r>
              <a:rPr dirty="0" sz="1600" spc="-25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Anna</a:t>
            </a:r>
            <a:r>
              <a:rPr dirty="0" sz="1600" spc="-30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University</a:t>
            </a:r>
            <a:r>
              <a:rPr dirty="0" sz="1600" spc="-25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accredited</a:t>
            </a:r>
            <a:r>
              <a:rPr dirty="0" sz="1600" spc="-30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by</a:t>
            </a:r>
            <a:r>
              <a:rPr dirty="0" sz="1600" spc="-25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NBA</a:t>
            </a:r>
            <a:r>
              <a:rPr dirty="0" sz="1600" spc="-30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&amp;</a:t>
            </a:r>
            <a:r>
              <a:rPr dirty="0" sz="1600" spc="-25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NAAC</a:t>
            </a:r>
            <a:r>
              <a:rPr dirty="0" sz="1600" spc="-30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with</a:t>
            </a:r>
            <a:r>
              <a:rPr dirty="0" sz="1600" spc="-25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145F82"/>
                </a:solidFill>
                <a:latin typeface="Times New Roman"/>
                <a:cs typeface="Times New Roman"/>
              </a:rPr>
              <a:t>A</a:t>
            </a:r>
            <a:r>
              <a:rPr dirty="0" sz="1600" spc="-25" b="1">
                <a:solidFill>
                  <a:srgbClr val="145F82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145F82"/>
                </a:solidFill>
                <a:latin typeface="Times New Roman"/>
                <a:cs typeface="Times New Roman"/>
              </a:rPr>
              <a:t>Grade.</a:t>
            </a:r>
            <a:endParaRPr sz="1600">
              <a:latin typeface="Times New Roman"/>
              <a:cs typeface="Times New Roman"/>
            </a:endParaRPr>
          </a:p>
          <a:p>
            <a:pPr algn="ctr" marR="73025">
              <a:lnSpc>
                <a:spcPts val="2155"/>
              </a:lnSpc>
            </a:pPr>
            <a:r>
              <a:rPr dirty="0" sz="1600" b="1">
                <a:latin typeface="Times New Roman"/>
                <a:cs typeface="Times New Roman"/>
              </a:rPr>
              <a:t>Dr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M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G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R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Nagar,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Hosur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-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635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130,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Krishnagiri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(Dist.),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Tamil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Nadu,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India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354965">
              <a:lnSpc>
                <a:spcPct val="100000"/>
              </a:lnSpc>
            </a:pPr>
            <a:r>
              <a:rPr dirty="0" sz="1900" b="1">
                <a:solidFill>
                  <a:srgbClr val="C04F14"/>
                </a:solidFill>
                <a:latin typeface="Times New Roman"/>
                <a:cs typeface="Times New Roman"/>
              </a:rPr>
              <a:t>DEPARTMENT</a:t>
            </a:r>
            <a:r>
              <a:rPr dirty="0" sz="1900" spc="-40" b="1">
                <a:solidFill>
                  <a:srgbClr val="C04F14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C04F14"/>
                </a:solidFill>
                <a:latin typeface="Times New Roman"/>
                <a:cs typeface="Times New Roman"/>
              </a:rPr>
              <a:t>OF</a:t>
            </a:r>
            <a:r>
              <a:rPr dirty="0" sz="1900" spc="-40" b="1">
                <a:solidFill>
                  <a:srgbClr val="C04F14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C04F14"/>
                </a:solidFill>
                <a:latin typeface="Times New Roman"/>
                <a:cs typeface="Times New Roman"/>
              </a:rPr>
              <a:t>ELECTRONICS</a:t>
            </a:r>
            <a:r>
              <a:rPr dirty="0" sz="1900" spc="-40" b="1">
                <a:solidFill>
                  <a:srgbClr val="C04F14"/>
                </a:solidFill>
                <a:latin typeface="Times New Roman"/>
                <a:cs typeface="Times New Roman"/>
              </a:rPr>
              <a:t> </a:t>
            </a:r>
            <a:r>
              <a:rPr dirty="0" sz="1900" b="1">
                <a:solidFill>
                  <a:srgbClr val="C04F14"/>
                </a:solidFill>
                <a:latin typeface="Times New Roman"/>
                <a:cs typeface="Times New Roman"/>
              </a:rPr>
              <a:t>AND</a:t>
            </a:r>
            <a:r>
              <a:rPr dirty="0" sz="1900" spc="-40" b="1">
                <a:solidFill>
                  <a:srgbClr val="C04F14"/>
                </a:solidFill>
                <a:latin typeface="Times New Roman"/>
                <a:cs typeface="Times New Roman"/>
              </a:rPr>
              <a:t> </a:t>
            </a:r>
            <a:r>
              <a:rPr dirty="0" sz="1900" spc="-10" b="1">
                <a:solidFill>
                  <a:srgbClr val="C04F14"/>
                </a:solidFill>
                <a:latin typeface="Times New Roman"/>
                <a:cs typeface="Times New Roman"/>
              </a:rPr>
              <a:t>COMMUNICATION</a:t>
            </a:r>
            <a:r>
              <a:rPr dirty="0" sz="1900" spc="-40" b="1">
                <a:solidFill>
                  <a:srgbClr val="C04F14"/>
                </a:solidFill>
                <a:latin typeface="Times New Roman"/>
                <a:cs typeface="Times New Roman"/>
              </a:rPr>
              <a:t> </a:t>
            </a:r>
            <a:r>
              <a:rPr dirty="0" sz="1900" spc="-10" b="1">
                <a:solidFill>
                  <a:srgbClr val="C04F14"/>
                </a:solidFill>
                <a:latin typeface="Times New Roman"/>
                <a:cs typeface="Times New Roman"/>
              </a:rPr>
              <a:t>ENGINEERING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L="4445">
              <a:lnSpc>
                <a:spcPct val="100000"/>
              </a:lnSpc>
            </a:pPr>
            <a:r>
              <a:rPr dirty="0" sz="2800" b="1">
                <a:latin typeface="Times New Roman"/>
                <a:cs typeface="Times New Roman"/>
              </a:rPr>
              <a:t>PROJECT</a:t>
            </a:r>
            <a:r>
              <a:rPr dirty="0" sz="2800" spc="-3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TITLE:</a:t>
            </a:r>
            <a:endParaRPr sz="2800">
              <a:latin typeface="Times New Roman"/>
              <a:cs typeface="Times New Roman"/>
            </a:endParaRPr>
          </a:p>
          <a:p>
            <a:pPr algn="ctr" marL="12700" marR="5080">
              <a:lnSpc>
                <a:spcPct val="100000"/>
              </a:lnSpc>
              <a:spcBef>
                <a:spcPts val="1010"/>
              </a:spcBef>
            </a:pPr>
            <a:r>
              <a:rPr dirty="0" sz="2400">
                <a:latin typeface="Times New Roman"/>
                <a:cs typeface="Times New Roman"/>
              </a:rPr>
              <a:t>DESIGN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IMPLEMENTATION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BUCKLE-</a:t>
            </a:r>
            <a:r>
              <a:rPr dirty="0" sz="2400">
                <a:latin typeface="Times New Roman"/>
                <a:cs typeface="Times New Roman"/>
              </a:rPr>
              <a:t>ACTIVATED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IOT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SMART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HELMET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AUTONOMOUS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ACCIDENT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DETECTION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EMERGENCY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ALERTING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2548" y="4549965"/>
            <a:ext cx="4643755" cy="193548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algn="ctr" marL="133985">
              <a:lnSpc>
                <a:spcPct val="100000"/>
              </a:lnSpc>
              <a:spcBef>
                <a:spcPts val="1100"/>
              </a:spcBef>
            </a:pPr>
            <a:r>
              <a:rPr dirty="0" sz="1700" b="1">
                <a:latin typeface="Times New Roman"/>
                <a:cs typeface="Times New Roman"/>
              </a:rPr>
              <a:t>PREPARED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spc="-25" b="1">
                <a:latin typeface="Times New Roman"/>
                <a:cs typeface="Times New Roman"/>
              </a:rPr>
              <a:t>BY:</a:t>
            </a:r>
            <a:endParaRPr sz="17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228600" algn="l"/>
              </a:tabLst>
            </a:pPr>
            <a:r>
              <a:rPr dirty="0" sz="1700">
                <a:latin typeface="Times New Roman"/>
                <a:cs typeface="Times New Roman"/>
              </a:rPr>
              <a:t>Suganth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S.N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(6176AC22UEC140)</a:t>
            </a:r>
            <a:endParaRPr sz="17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Font typeface="Times New Roman"/>
              <a:buAutoNum type="arabicPeriod"/>
              <a:tabLst>
                <a:tab pos="228600" algn="l"/>
              </a:tabLst>
            </a:pPr>
            <a:r>
              <a:rPr dirty="0" sz="1700">
                <a:latin typeface="Times New Roman"/>
                <a:cs typeface="Times New Roman"/>
              </a:rPr>
              <a:t>Thameen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Ansari.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10">
                <a:latin typeface="Times New Roman"/>
                <a:cs typeface="Times New Roman"/>
              </a:rPr>
              <a:t> (6176AC22UEC150)</a:t>
            </a:r>
            <a:endParaRPr sz="17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Font typeface="Times New Roman"/>
              <a:buAutoNum type="arabicPeriod"/>
              <a:tabLst>
                <a:tab pos="228600" algn="l"/>
              </a:tabLst>
            </a:pPr>
            <a:r>
              <a:rPr dirty="0" sz="1700" spc="-10">
                <a:latin typeface="Times New Roman"/>
                <a:cs typeface="Times New Roman"/>
              </a:rPr>
              <a:t>Vidyadheesha.M.Pandurangi</a:t>
            </a:r>
            <a:r>
              <a:rPr dirty="0" sz="1700" spc="10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(6176AC22UEC162)</a:t>
            </a:r>
            <a:endParaRPr sz="17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Font typeface="Times New Roman"/>
              <a:buAutoNum type="arabicPeriod"/>
              <a:tabLst>
                <a:tab pos="228600" algn="l"/>
              </a:tabLst>
            </a:pPr>
            <a:r>
              <a:rPr dirty="0" sz="1700">
                <a:latin typeface="Times New Roman"/>
                <a:cs typeface="Times New Roman"/>
              </a:rPr>
              <a:t>Yeshwanth.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(6176AC22UEC170)</a:t>
            </a:r>
            <a:endParaRPr sz="1700">
              <a:latin typeface="Times New Roman"/>
              <a:cs typeface="Times New Roman"/>
            </a:endParaRPr>
          </a:p>
          <a:p>
            <a:pPr marL="1312545">
              <a:lnSpc>
                <a:spcPct val="100000"/>
              </a:lnSpc>
              <a:spcBef>
                <a:spcPts val="795"/>
              </a:spcBef>
            </a:pPr>
            <a:r>
              <a:rPr dirty="0" sz="1700">
                <a:latin typeface="Times New Roman"/>
                <a:cs typeface="Times New Roman"/>
              </a:rPr>
              <a:t>B.E.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ECE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“C”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–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IV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Year</a:t>
            </a:r>
            <a:endParaRPr sz="17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60264"/>
            <a:ext cx="1524000" cy="14904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9582" y="444588"/>
            <a:ext cx="1660017" cy="90423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7673" y="4676647"/>
            <a:ext cx="338201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PROJECT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GUIDE:</a:t>
            </a:r>
            <a:endParaRPr sz="1800">
              <a:latin typeface="Times New Roman"/>
              <a:cs typeface="Times New Roman"/>
            </a:endParaRPr>
          </a:p>
          <a:p>
            <a:pPr algn="ctr" marL="783590" marR="774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Dr.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S.</a:t>
            </a:r>
            <a:r>
              <a:rPr dirty="0" sz="1800" spc="-10">
                <a:latin typeface="Times New Roman"/>
                <a:cs typeface="Times New Roman"/>
              </a:rPr>
              <a:t> Sumathi </a:t>
            </a:r>
            <a:r>
              <a:rPr dirty="0" sz="1800">
                <a:latin typeface="Times New Roman"/>
                <a:cs typeface="Times New Roman"/>
              </a:rPr>
              <a:t>Professor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/HoD </a:t>
            </a:r>
            <a:r>
              <a:rPr dirty="0" sz="1800">
                <a:latin typeface="Times New Roman"/>
                <a:cs typeface="Times New Roman"/>
              </a:rPr>
              <a:t>Department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ECE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Adhiyamaan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College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Engineering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2703" y="17494"/>
            <a:ext cx="425577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372" y="602152"/>
            <a:ext cx="11468735" cy="604012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latin typeface="Times New Roman"/>
                <a:cs typeface="Times New Roman"/>
              </a:rPr>
              <a:t>IoT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Wearable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Safety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Systems</a:t>
            </a:r>
            <a:endParaRPr sz="1800">
              <a:latin typeface="Times New Roman"/>
              <a:cs typeface="Times New Roman"/>
            </a:endParaRPr>
          </a:p>
          <a:p>
            <a:pPr marL="12700" marR="5080" indent="914400">
              <a:lnSpc>
                <a:spcPct val="150000"/>
              </a:lnSpc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Internet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Things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(IoT)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transformed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conventional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safety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devices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into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intelligent,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connected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systems </a:t>
            </a:r>
            <a:r>
              <a:rPr dirty="0" sz="1800">
                <a:latin typeface="Times New Roman"/>
                <a:cs typeface="Times New Roman"/>
              </a:rPr>
              <a:t>capable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sensing,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decision-</a:t>
            </a:r>
            <a:r>
              <a:rPr dirty="0" sz="1800">
                <a:latin typeface="Times New Roman"/>
                <a:cs typeface="Times New Roman"/>
              </a:rPr>
              <a:t>making,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transportation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domain—</a:t>
            </a:r>
            <a:r>
              <a:rPr dirty="0" sz="1800">
                <a:latin typeface="Times New Roman"/>
                <a:cs typeface="Times New Roman"/>
              </a:rPr>
              <a:t>particularly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two-</a:t>
            </a:r>
            <a:r>
              <a:rPr dirty="0" sz="1800">
                <a:latin typeface="Times New Roman"/>
                <a:cs typeface="Times New Roman"/>
              </a:rPr>
              <a:t>wheeler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riders—IoT-</a:t>
            </a:r>
            <a:r>
              <a:rPr dirty="0" sz="1800">
                <a:latin typeface="Times New Roman"/>
                <a:cs typeface="Times New Roman"/>
              </a:rPr>
              <a:t>enabled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wearables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crucial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emergency </a:t>
            </a:r>
            <a:r>
              <a:rPr dirty="0" sz="1800">
                <a:latin typeface="Times New Roman"/>
                <a:cs typeface="Times New Roman"/>
              </a:rPr>
              <a:t>response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time.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Smart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Helmet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Technology</a:t>
            </a:r>
            <a:endParaRPr sz="1800">
              <a:latin typeface="Times New Roman"/>
              <a:cs typeface="Times New Roman"/>
            </a:endParaRPr>
          </a:p>
          <a:p>
            <a:pPr marL="12700" marR="565150" indent="914400">
              <a:lnSpc>
                <a:spcPct val="150000"/>
              </a:lnSpc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embedded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controllers,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wireless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modules,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interfaces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to </a:t>
            </a:r>
            <a:r>
              <a:rPr dirty="0" sz="1800">
                <a:latin typeface="Times New Roman"/>
                <a:cs typeface="Times New Roman"/>
              </a:rPr>
              <a:t>perform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continuous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monitoring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activity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environmental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conditions.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Modern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advancements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allow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to </a:t>
            </a:r>
            <a:r>
              <a:rPr dirty="0" sz="1800">
                <a:latin typeface="Times New Roman"/>
                <a:cs typeface="Times New Roman"/>
              </a:rPr>
              <a:t>autonomously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crashes,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track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movement,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initiate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without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requiring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manual intervention.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Relevance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Road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Safety</a:t>
            </a:r>
            <a:endParaRPr sz="1800">
              <a:latin typeface="Times New Roman"/>
              <a:cs typeface="Times New Roman"/>
            </a:endParaRPr>
          </a:p>
          <a:p>
            <a:pPr marL="12700" marR="130175" indent="914400">
              <a:lnSpc>
                <a:spcPct val="150000"/>
              </a:lnSpc>
            </a:pPr>
            <a:r>
              <a:rPr dirty="0" sz="1800" spc="-20">
                <a:latin typeface="Times New Roman"/>
                <a:cs typeface="Times New Roman"/>
              </a:rPr>
              <a:t>Two-</a:t>
            </a:r>
            <a:r>
              <a:rPr dirty="0" sz="1800">
                <a:latin typeface="Times New Roman"/>
                <a:cs typeface="Times New Roman"/>
              </a:rPr>
              <a:t>wheeler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account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significant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portion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road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fatalities.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Delay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identifying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notifying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services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major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cause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severe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injuries.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IoT-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directly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address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challenge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by </a:t>
            </a:r>
            <a:r>
              <a:rPr dirty="0" sz="1800">
                <a:latin typeface="Times New Roman"/>
                <a:cs typeface="Times New Roman"/>
              </a:rPr>
              <a:t>offering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fast,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automated,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reliable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recognition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capabilities.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" y="98343"/>
            <a:ext cx="33140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/>
              <a:t>RESEARCH: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4232" y="931241"/>
            <a:ext cx="10515600" cy="57064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229" y="139307"/>
            <a:ext cx="325183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/>
              <a:t>ABSTRACT: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40856" y="900243"/>
            <a:ext cx="11130280" cy="480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91440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2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2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presents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implementation</a:t>
            </a:r>
            <a:r>
              <a:rPr dirty="0" sz="1800" spc="2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buckle-</a:t>
            </a:r>
            <a:r>
              <a:rPr dirty="0" sz="1800" b="1">
                <a:latin typeface="Times New Roman"/>
                <a:cs typeface="Times New Roman"/>
              </a:rPr>
              <a:t>activated</a:t>
            </a:r>
            <a:r>
              <a:rPr dirty="0" sz="1800" spc="2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IoT</a:t>
            </a:r>
            <a:r>
              <a:rPr dirty="0" sz="1800" spc="2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Smart</a:t>
            </a:r>
            <a:r>
              <a:rPr dirty="0" sz="1800" spc="2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Helmet</a:t>
            </a:r>
            <a:r>
              <a:rPr dirty="0" sz="1800" spc="26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capable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of </a:t>
            </a:r>
            <a:r>
              <a:rPr dirty="0" sz="1800">
                <a:latin typeface="Times New Roman"/>
                <a:cs typeface="Times New Roman"/>
              </a:rPr>
              <a:t>automatically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alerts.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ESP32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microcontroller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main </a:t>
            </a:r>
            <a:r>
              <a:rPr dirty="0" sz="1800">
                <a:latin typeface="Times New Roman"/>
                <a:cs typeface="Times New Roman"/>
              </a:rPr>
              <a:t>controller,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integrated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36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MPU6050</a:t>
            </a:r>
            <a:r>
              <a:rPr dirty="0" sz="1800" spc="3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IMU</a:t>
            </a:r>
            <a:r>
              <a:rPr dirty="0" sz="1800" spc="3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sensor</a:t>
            </a:r>
            <a:r>
              <a:rPr dirty="0" sz="1800" spc="35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vibration</a:t>
            </a:r>
            <a:r>
              <a:rPr dirty="0" sz="1800" spc="3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sensor</a:t>
            </a:r>
            <a:r>
              <a:rPr dirty="0" sz="1800" spc="36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sudden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impacts,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abnormal </a:t>
            </a:r>
            <a:r>
              <a:rPr dirty="0" sz="1800">
                <a:latin typeface="Times New Roman"/>
                <a:cs typeface="Times New Roman"/>
              </a:rPr>
              <a:t>motion,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high-</a:t>
            </a:r>
            <a:r>
              <a:rPr dirty="0" sz="1800">
                <a:latin typeface="Times New Roman"/>
                <a:cs typeface="Times New Roman"/>
              </a:rPr>
              <a:t>intensity</a:t>
            </a:r>
            <a:r>
              <a:rPr dirty="0" sz="1800" spc="-10">
                <a:latin typeface="Times New Roman"/>
                <a:cs typeface="Times New Roman"/>
              </a:rPr>
              <a:t> shocks.</a:t>
            </a:r>
            <a:endParaRPr sz="1800">
              <a:latin typeface="Times New Roman"/>
              <a:cs typeface="Times New Roman"/>
            </a:endParaRPr>
          </a:p>
          <a:p>
            <a:pPr algn="just" marL="12700" marR="5715" indent="914400">
              <a:lnSpc>
                <a:spcPct val="150000"/>
              </a:lnSpc>
              <a:spcBef>
                <a:spcPts val="1000"/>
              </a:spcBef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Hall</a:t>
            </a:r>
            <a:r>
              <a:rPr dirty="0" sz="1800" spc="11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sensor-</a:t>
            </a:r>
            <a:r>
              <a:rPr dirty="0" sz="1800" b="1">
                <a:latin typeface="Times New Roman"/>
                <a:cs typeface="Times New Roman"/>
              </a:rPr>
              <a:t>based</a:t>
            </a:r>
            <a:r>
              <a:rPr dirty="0" sz="1800" spc="114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buckle</a:t>
            </a:r>
            <a:r>
              <a:rPr dirty="0" sz="1800" spc="1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mechanism</a:t>
            </a:r>
            <a:r>
              <a:rPr dirty="0" sz="1800" spc="1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ensures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activates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only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11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properly </a:t>
            </a:r>
            <a:r>
              <a:rPr dirty="0" sz="1800">
                <a:latin typeface="Times New Roman"/>
                <a:cs typeface="Times New Roman"/>
              </a:rPr>
              <a:t>worn,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improving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safety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compliance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reducing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unnecessary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power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consumption.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During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normal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riding,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system </a:t>
            </a:r>
            <a:r>
              <a:rPr dirty="0" sz="1800">
                <a:latin typeface="Times New Roman"/>
                <a:cs typeface="Times New Roman"/>
              </a:rPr>
              <a:t>operates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low-</a:t>
            </a:r>
            <a:r>
              <a:rPr dirty="0" sz="1800">
                <a:latin typeface="Times New Roman"/>
                <a:cs typeface="Times New Roman"/>
              </a:rPr>
              <a:t>power</a:t>
            </a:r>
            <a:r>
              <a:rPr dirty="0" sz="1800" spc="1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monitoring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mode.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1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1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detected,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GPS</a:t>
            </a:r>
            <a:r>
              <a:rPr dirty="0" sz="1800" spc="17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Neo-</a:t>
            </a:r>
            <a:r>
              <a:rPr dirty="0" sz="1800" b="1">
                <a:latin typeface="Times New Roman"/>
                <a:cs typeface="Times New Roman"/>
              </a:rPr>
              <a:t>6M</a:t>
            </a:r>
            <a:r>
              <a:rPr dirty="0" sz="1800" spc="17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module</a:t>
            </a:r>
            <a:r>
              <a:rPr dirty="0" sz="1800" spc="19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retrieves</a:t>
            </a:r>
            <a:r>
              <a:rPr dirty="0" sz="1800" spc="1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 spc="-20">
                <a:latin typeface="Times New Roman"/>
                <a:cs typeface="Times New Roman"/>
              </a:rPr>
              <a:t>time </a:t>
            </a:r>
            <a:r>
              <a:rPr dirty="0" sz="1800">
                <a:latin typeface="Times New Roman"/>
                <a:cs typeface="Times New Roman"/>
              </a:rPr>
              <a:t>location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coordinates,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SIM800L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GSM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module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message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predefined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contacts.</a:t>
            </a:r>
            <a:endParaRPr sz="1800">
              <a:latin typeface="Times New Roman"/>
              <a:cs typeface="Times New Roman"/>
            </a:endParaRPr>
          </a:p>
          <a:p>
            <a:pPr algn="just" marL="12700" marR="11430" indent="914400">
              <a:lnSpc>
                <a:spcPct val="150000"/>
              </a:lnSpc>
              <a:spcBef>
                <a:spcPts val="1000"/>
              </a:spcBef>
            </a:pPr>
            <a:r>
              <a:rPr dirty="0" sz="1800">
                <a:latin typeface="Times New Roman"/>
                <a:cs typeface="Times New Roman"/>
              </a:rPr>
              <a:t>Additionally,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verifies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consciousness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through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SMS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confirmation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before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sending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final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alert.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energy-</a:t>
            </a:r>
            <a:r>
              <a:rPr dirty="0" sz="1800">
                <a:latin typeface="Times New Roman"/>
                <a:cs typeface="Times New Roman"/>
              </a:rPr>
              <a:t>efficient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scalable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solution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enhances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safety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significantly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reducing</a:t>
            </a:r>
            <a:r>
              <a:rPr dirty="0" sz="1800" spc="10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emergency </a:t>
            </a:r>
            <a:r>
              <a:rPr dirty="0" sz="1800">
                <a:latin typeface="Times New Roman"/>
                <a:cs typeface="Times New Roman"/>
              </a:rPr>
              <a:t>response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time.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8050" y="116492"/>
            <a:ext cx="374967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/>
              <a:t>OBJECTIVES: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70353" y="1588503"/>
            <a:ext cx="84137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545" marR="5080" indent="-283845">
              <a:lnSpc>
                <a:spcPct val="100000"/>
              </a:lnSpc>
              <a:spcBef>
                <a:spcPts val="100"/>
              </a:spcBef>
              <a:buFont typeface="Segoe UI Symbol"/>
              <a:buChar char="➢"/>
              <a:tabLst>
                <a:tab pos="298450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IoT-</a:t>
            </a:r>
            <a:r>
              <a:rPr dirty="0" sz="1800">
                <a:latin typeface="Times New Roman"/>
                <a:cs typeface="Times New Roman"/>
              </a:rPr>
              <a:t>enabled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capable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autonomously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detecting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fusion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techniques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(MPU6050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vibration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sensor).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72555" y="1588503"/>
            <a:ext cx="2068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accidents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sensor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353" y="2411463"/>
            <a:ext cx="10805795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6545" marR="44450" indent="-283845">
              <a:lnSpc>
                <a:spcPct val="100000"/>
              </a:lnSpc>
              <a:spcBef>
                <a:spcPts val="100"/>
              </a:spcBef>
              <a:buFont typeface="Segoe UI Symbol"/>
              <a:buChar char="➢"/>
              <a:tabLst>
                <a:tab pos="298450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implement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buckle-</a:t>
            </a:r>
            <a:r>
              <a:rPr dirty="0" sz="1800">
                <a:latin typeface="Times New Roman"/>
                <a:cs typeface="Times New Roman"/>
              </a:rPr>
              <a:t>activated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power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control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mechanism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Hall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operates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only </a:t>
            </a:r>
            <a:r>
              <a:rPr dirty="0" sz="1800" spc="-2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securely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worn.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Segoe UI Symbol"/>
              <a:buChar char="➢"/>
            </a:pPr>
            <a:endParaRPr sz="1800">
              <a:latin typeface="Times New Roman"/>
              <a:cs typeface="Times New Roman"/>
            </a:endParaRPr>
          </a:p>
          <a:p>
            <a:pPr marL="296545" marR="5080" indent="-283845">
              <a:lnSpc>
                <a:spcPct val="100000"/>
              </a:lnSpc>
              <a:buFont typeface="Segoe UI Symbol"/>
              <a:buChar char="➢"/>
              <a:tabLst>
                <a:tab pos="298450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optimize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energy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efficiency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incorporating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low-</a:t>
            </a:r>
            <a:r>
              <a:rPr dirty="0" sz="1800">
                <a:latin typeface="Times New Roman"/>
                <a:cs typeface="Times New Roman"/>
              </a:rPr>
              <a:t>power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standby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selective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activation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of </a:t>
            </a:r>
            <a:r>
              <a:rPr dirty="0" sz="1800" spc="-25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GSM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GPS</a:t>
            </a:r>
            <a:r>
              <a:rPr dirty="0" sz="1800" spc="-10">
                <a:latin typeface="Times New Roman"/>
                <a:cs typeface="Times New Roman"/>
              </a:rPr>
              <a:t> modules.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Segoe UI Symbol"/>
              <a:buChar char="➢"/>
            </a:pPr>
            <a:endParaRPr sz="1800">
              <a:latin typeface="Times New Roman"/>
              <a:cs typeface="Times New Roman"/>
            </a:endParaRPr>
          </a:p>
          <a:p>
            <a:pPr marL="296545" marR="239395" indent="-283845">
              <a:lnSpc>
                <a:spcPct val="100000"/>
              </a:lnSpc>
              <a:buFont typeface="Segoe UI Symbol"/>
              <a:buChar char="➢"/>
              <a:tabLst>
                <a:tab pos="298450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enable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GPS-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location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tracking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(Neo-</a:t>
            </a:r>
            <a:r>
              <a:rPr dirty="0" sz="1800">
                <a:latin typeface="Times New Roman"/>
                <a:cs typeface="Times New Roman"/>
              </a:rPr>
              <a:t>6M)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GSM </a:t>
            </a:r>
            <a:r>
              <a:rPr dirty="0" sz="1800" spc="-25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(SIM800L).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Segoe UI Symbol"/>
              <a:buChar char="➢"/>
            </a:pPr>
            <a:endParaRPr sz="1800">
              <a:latin typeface="Times New Roman"/>
              <a:cs typeface="Times New Roman"/>
            </a:endParaRPr>
          </a:p>
          <a:p>
            <a:pPr marL="296545" marR="196850" indent="-283845">
              <a:lnSpc>
                <a:spcPct val="100000"/>
              </a:lnSpc>
              <a:buFont typeface="Segoe UI Symbol"/>
              <a:buChar char="➢"/>
              <a:tabLst>
                <a:tab pos="298450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significantly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response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safety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timely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medical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assistance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during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accidents.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8019" y="41973"/>
            <a:ext cx="633920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LITERATURE</a:t>
            </a:r>
            <a:r>
              <a:rPr dirty="0" sz="4400" spc="-135"/>
              <a:t> </a:t>
            </a:r>
            <a:r>
              <a:rPr dirty="0" sz="4400" spc="-10"/>
              <a:t>SURVEY: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71177" y="1076954"/>
            <a:ext cx="10673715" cy="551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44525" indent="-342900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Kumar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Raj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(2020)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IoT-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GSM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 spc="-20">
                <a:latin typeface="Times New Roman"/>
                <a:cs typeface="Times New Roman"/>
              </a:rPr>
              <a:t>time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alerts.</a:t>
            </a:r>
            <a:endParaRPr sz="1800">
              <a:latin typeface="Times New Roman"/>
              <a:cs typeface="Times New Roman"/>
            </a:endParaRPr>
          </a:p>
          <a:p>
            <a:pPr marL="355600" marR="424180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Verma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et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al.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(2020)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proposed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GPS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GSM-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vehicle-</a:t>
            </a:r>
            <a:r>
              <a:rPr dirty="0" sz="1800">
                <a:latin typeface="Times New Roman"/>
                <a:cs typeface="Times New Roman"/>
              </a:rPr>
              <a:t>mounted</a:t>
            </a:r>
            <a:r>
              <a:rPr dirty="0" sz="1800" spc="-25">
                <a:latin typeface="Times New Roman"/>
                <a:cs typeface="Times New Roman"/>
              </a:rPr>
              <a:t> and </a:t>
            </a:r>
            <a:r>
              <a:rPr dirty="0" sz="1800">
                <a:latin typeface="Times New Roman"/>
                <a:cs typeface="Times New Roman"/>
              </a:rPr>
              <a:t>lacked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wearable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integration.</a:t>
            </a:r>
            <a:endParaRPr sz="1800">
              <a:latin typeface="Times New Roman"/>
              <a:cs typeface="Times New Roman"/>
            </a:endParaRPr>
          </a:p>
          <a:p>
            <a:pPr marL="355600" marR="211454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Hossain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Muhammad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(2021)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IoT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MEMS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fusion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techniques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to </a:t>
            </a:r>
            <a:r>
              <a:rPr dirty="0" sz="1800">
                <a:latin typeface="Times New Roman"/>
                <a:cs typeface="Times New Roman"/>
              </a:rPr>
              <a:t>improve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crash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accuracy.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Bhoi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Khilar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(2018)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introduced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smartphone-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cloud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but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depends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phone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availability.</a:t>
            </a:r>
            <a:endParaRPr sz="1800">
              <a:latin typeface="Times New Roman"/>
              <a:cs typeface="Times New Roman"/>
            </a:endParaRPr>
          </a:p>
          <a:p>
            <a:pPr marL="355600" marR="67945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Patel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Shah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(2019)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implemented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threshold-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accelerometer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GSM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alerts, </a:t>
            </a:r>
            <a:r>
              <a:rPr dirty="0" sz="1800">
                <a:latin typeface="Times New Roman"/>
                <a:cs typeface="Times New Roman"/>
              </a:rPr>
              <a:t>though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without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false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alarm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verification.</a:t>
            </a:r>
            <a:endParaRPr sz="1800">
              <a:latin typeface="Times New Roman"/>
              <a:cs typeface="Times New Roman"/>
            </a:endParaRPr>
          </a:p>
          <a:p>
            <a:pPr marL="355600" marR="556260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Reddy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Lakshmi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(2020)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proposed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smart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alcohol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notification </a:t>
            </a:r>
            <a:r>
              <a:rPr dirty="0" sz="1800">
                <a:latin typeface="Times New Roman"/>
                <a:cs typeface="Times New Roman"/>
              </a:rPr>
              <a:t>features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safety.</a:t>
            </a:r>
            <a:endParaRPr sz="1800">
              <a:latin typeface="Times New Roman"/>
              <a:cs typeface="Times New Roman"/>
            </a:endParaRPr>
          </a:p>
          <a:p>
            <a:pPr marL="355600" marR="189230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Zhang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et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al.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(2021)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demonstrated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MEMS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accelerometer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gyroscope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significantly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improves </a:t>
            </a:r>
            <a:r>
              <a:rPr dirty="0" sz="1800">
                <a:latin typeface="Times New Roman"/>
                <a:cs typeface="Times New Roman"/>
              </a:rPr>
              <a:t>motion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analysis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reliability.</a:t>
            </a:r>
            <a:endParaRPr sz="1800">
              <a:latin typeface="Times New Roman"/>
              <a:cs typeface="Times New Roman"/>
            </a:endParaRPr>
          </a:p>
          <a:p>
            <a:pPr marL="355600" marR="218440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Chauhan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Thakur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(2022)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ESP32-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IoT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GPS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tracking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efficient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wireless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communication.</a:t>
            </a:r>
            <a:endParaRPr sz="1800">
              <a:latin typeface="Times New Roman"/>
              <a:cs typeface="Times New Roman"/>
            </a:endParaRPr>
          </a:p>
          <a:p>
            <a:pPr marL="355600" marR="506095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Alaa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et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al.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(2023)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reviewed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emphasized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verification </a:t>
            </a:r>
            <a:r>
              <a:rPr dirty="0" sz="1800">
                <a:latin typeface="Times New Roman"/>
                <a:cs typeface="Times New Roman"/>
              </a:rPr>
              <a:t>mechanisms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false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positives.</a:t>
            </a:r>
            <a:endParaRPr sz="1800">
              <a:latin typeface="Times New Roman"/>
              <a:cs typeface="Times New Roman"/>
            </a:endParaRPr>
          </a:p>
          <a:p>
            <a:pPr marL="355600" marR="379095" indent="-342900">
              <a:lnSpc>
                <a:spcPct val="100000"/>
              </a:lnSpc>
              <a:buAutoNum type="arabicParenR"/>
              <a:tabLst>
                <a:tab pos="355600" algn="l"/>
              </a:tabLst>
            </a:pPr>
            <a:r>
              <a:rPr dirty="0" sz="1800" b="1">
                <a:latin typeface="Times New Roman"/>
                <a:cs typeface="Times New Roman"/>
              </a:rPr>
              <a:t>Shinde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Patil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(2024)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proposed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GSM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GPS-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two-</a:t>
            </a:r>
            <a:r>
              <a:rPr dirty="0" sz="1800">
                <a:latin typeface="Times New Roman"/>
                <a:cs typeface="Times New Roman"/>
              </a:rPr>
              <a:t>wheeler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lacked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a </a:t>
            </a:r>
            <a:r>
              <a:rPr dirty="0" sz="1800">
                <a:latin typeface="Times New Roman"/>
                <a:cs typeface="Times New Roman"/>
              </a:rPr>
              <a:t>confirmation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stage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before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alerts.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EXSISTING</a:t>
            </a:r>
            <a:r>
              <a:rPr dirty="0" sz="3600" spc="-30"/>
              <a:t> </a:t>
            </a:r>
            <a:r>
              <a:rPr dirty="0" sz="3600" spc="-10"/>
              <a:t>METHODOLOGY: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3024" y="680895"/>
            <a:ext cx="11098530" cy="1198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68975" algn="l"/>
              </a:tabLst>
            </a:pPr>
            <a:r>
              <a:rPr dirty="0" sz="2400" b="1">
                <a:latin typeface="Times New Roman"/>
                <a:cs typeface="Times New Roman"/>
              </a:rPr>
              <a:t>Existing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Methodology</a:t>
            </a:r>
            <a:r>
              <a:rPr dirty="0" sz="2400" b="1">
                <a:latin typeface="Times New Roman"/>
                <a:cs typeface="Times New Roman"/>
              </a:rPr>
              <a:t>	Issues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/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Drawbacks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035"/>
              </a:spcBef>
              <a:tabLst>
                <a:tab pos="5768975" algn="l"/>
              </a:tabLst>
            </a:pPr>
            <a:r>
              <a:rPr dirty="0" sz="1800">
                <a:latin typeface="Times New Roman"/>
                <a:cs typeface="Times New Roman"/>
              </a:rPr>
              <a:t>Accident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typically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single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accelerometer</a:t>
            </a:r>
            <a:r>
              <a:rPr dirty="0" sz="1800" spc="60" b="1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Cannot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rider-</a:t>
            </a:r>
            <a:r>
              <a:rPr dirty="0" sz="1800">
                <a:latin typeface="Times New Roman"/>
                <a:cs typeface="Times New Roman"/>
              </a:rPr>
              <a:t>specific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impact;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low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crash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recognition </a:t>
            </a:r>
            <a:r>
              <a:rPr dirty="0" sz="1800">
                <a:latin typeface="Times New Roman"/>
                <a:cs typeface="Times New Roman"/>
              </a:rPr>
              <a:t>mounted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motorcycle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rather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rider.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accuracy.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011" y="2195408"/>
            <a:ext cx="53651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remains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continuously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powered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ON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regardless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of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usage.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39811" y="2195408"/>
            <a:ext cx="54044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Causes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unnecessary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battery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drain;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unsuitable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long-term </a:t>
            </a:r>
            <a:r>
              <a:rPr dirty="0" sz="1800">
                <a:latin typeface="Times New Roman"/>
                <a:cs typeface="Times New Roman"/>
              </a:rPr>
              <a:t>wearable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use.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024" y="2969219"/>
            <a:ext cx="53320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impact,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directly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emergency </a:t>
            </a:r>
            <a:r>
              <a:rPr dirty="0" sz="1800" b="1">
                <a:latin typeface="Times New Roman"/>
                <a:cs typeface="Times New Roman"/>
              </a:rPr>
              <a:t>SMS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saved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contacts.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9811" y="3106379"/>
            <a:ext cx="4904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No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confirmation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→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chances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false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alerts.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024" y="3880190"/>
            <a:ext cx="5458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Location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taken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basic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GPS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smartphone.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9811" y="3743030"/>
            <a:ext cx="49987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Dependent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mobile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phone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availability;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produce </a:t>
            </a:r>
            <a:r>
              <a:rPr dirty="0" sz="1800">
                <a:latin typeface="Times New Roman"/>
                <a:cs typeface="Times New Roman"/>
              </a:rPr>
              <a:t>inaccurate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coordinates.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024" y="4516841"/>
            <a:ext cx="55035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No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check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determine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conscious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or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safe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after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event.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39811" y="4516841"/>
            <a:ext cx="54375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Minor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bumps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non-</a:t>
            </a:r>
            <a:r>
              <a:rPr dirty="0" sz="1800">
                <a:latin typeface="Times New Roman"/>
                <a:cs typeface="Times New Roman"/>
              </a:rPr>
              <a:t>critical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events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trigger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emergency alerts.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024" y="5290652"/>
            <a:ext cx="47529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have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power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control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mechanism </a:t>
            </a:r>
            <a:r>
              <a:rPr dirty="0" sz="1800">
                <a:latin typeface="Times New Roman"/>
                <a:cs typeface="Times New Roman"/>
              </a:rPr>
              <a:t>connected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wearing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status.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9811" y="5427812"/>
            <a:ext cx="5634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trigger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idle/not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worn.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3024" y="6201628"/>
            <a:ext cx="5511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Many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manual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SOS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activation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rider.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39811" y="6064468"/>
            <a:ext cx="56648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Ineffective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unconscious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unable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operate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system.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209847"/>
            <a:ext cx="11783695" cy="1836420"/>
          </a:xfrm>
          <a:prstGeom prst="rect"/>
        </p:spPr>
        <p:txBody>
          <a:bodyPr wrap="square" lIns="0" tIns="3676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95"/>
              </a:spcBef>
            </a:pPr>
            <a:r>
              <a:rPr dirty="0" sz="4400"/>
              <a:t>PROPOSED</a:t>
            </a:r>
            <a:r>
              <a:rPr dirty="0" sz="4400" spc="-100"/>
              <a:t> </a:t>
            </a:r>
            <a:r>
              <a:rPr dirty="0" sz="4400" spc="-10"/>
              <a:t>SYSTEM:</a:t>
            </a:r>
            <a:endParaRPr sz="4400"/>
          </a:p>
          <a:p>
            <a:pPr marL="258445" marR="5080" indent="914400">
              <a:lnSpc>
                <a:spcPct val="150000"/>
              </a:lnSpc>
              <a:spcBef>
                <a:spcPts val="65"/>
              </a:spcBef>
            </a:pPr>
            <a:r>
              <a:rPr dirty="0" sz="1700" b="0">
                <a:latin typeface="Times New Roman"/>
                <a:cs typeface="Times New Roman"/>
              </a:rPr>
              <a:t>The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Smart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Helmet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architecture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is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designed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as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a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modular,</a:t>
            </a:r>
            <a:r>
              <a:rPr dirty="0" sz="1700" spc="340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layered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embedded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system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enabling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separation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of</a:t>
            </a:r>
            <a:r>
              <a:rPr dirty="0" sz="1700" spc="335" b="0">
                <a:latin typeface="Times New Roman"/>
                <a:cs typeface="Times New Roman"/>
              </a:rPr>
              <a:t> </a:t>
            </a:r>
            <a:r>
              <a:rPr dirty="0" sz="1700" spc="-10" b="0">
                <a:latin typeface="Times New Roman"/>
                <a:cs typeface="Times New Roman"/>
              </a:rPr>
              <a:t>sensing, </a:t>
            </a:r>
            <a:r>
              <a:rPr dirty="0" sz="1700" b="0">
                <a:latin typeface="Times New Roman"/>
                <a:cs typeface="Times New Roman"/>
              </a:rPr>
              <a:t>processing,</a:t>
            </a:r>
            <a:r>
              <a:rPr dirty="0" sz="1700" spc="-40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communication,</a:t>
            </a:r>
            <a:r>
              <a:rPr dirty="0" sz="1700" spc="-40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and</a:t>
            </a:r>
            <a:r>
              <a:rPr dirty="0" sz="1700" spc="-40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power</a:t>
            </a:r>
            <a:r>
              <a:rPr dirty="0" sz="1700" spc="-40" b="0">
                <a:latin typeface="Times New Roman"/>
                <a:cs typeface="Times New Roman"/>
              </a:rPr>
              <a:t> </a:t>
            </a:r>
            <a:r>
              <a:rPr dirty="0" sz="1700" b="0">
                <a:latin typeface="Times New Roman"/>
                <a:cs typeface="Times New Roman"/>
              </a:rPr>
              <a:t>management</a:t>
            </a:r>
            <a:r>
              <a:rPr dirty="0" sz="1700" spc="-35" b="0">
                <a:latin typeface="Times New Roman"/>
                <a:cs typeface="Times New Roman"/>
              </a:rPr>
              <a:t> </a:t>
            </a:r>
            <a:r>
              <a:rPr dirty="0" sz="1700" spc="-10" b="0">
                <a:latin typeface="Times New Roman"/>
                <a:cs typeface="Times New Roman"/>
              </a:rPr>
              <a:t>functionalities.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545" y="1857670"/>
            <a:ext cx="11537950" cy="480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latin typeface="Times New Roman"/>
                <a:cs typeface="Times New Roman"/>
              </a:rPr>
              <a:t>A.</a:t>
            </a:r>
            <a:r>
              <a:rPr dirty="0" sz="1700" spc="-3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Sensing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Subsystem</a:t>
            </a:r>
            <a:endParaRPr sz="170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MPU6050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IMU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provides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six degrees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freedom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(3-</a:t>
            </a:r>
            <a:r>
              <a:rPr dirty="0" sz="1700">
                <a:latin typeface="Times New Roman"/>
                <a:cs typeface="Times New Roman"/>
              </a:rPr>
              <a:t>axis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accelerometer 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3-</a:t>
            </a:r>
            <a:r>
              <a:rPr dirty="0" sz="1700">
                <a:latin typeface="Times New Roman"/>
                <a:cs typeface="Times New Roman"/>
              </a:rPr>
              <a:t>axis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gyroscope).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Real-</a:t>
            </a:r>
            <a:r>
              <a:rPr dirty="0" sz="1700">
                <a:latin typeface="Times New Roman"/>
                <a:cs typeface="Times New Roman"/>
              </a:rPr>
              <a:t>time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acceleration data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are </a:t>
            </a:r>
            <a:r>
              <a:rPr dirty="0" sz="1700">
                <a:latin typeface="Times New Roman"/>
                <a:cs typeface="Times New Roman"/>
              </a:rPr>
              <a:t>sampled via I²C communication. Gyroscopic data assist in detecting abnormal orientation changes, complementing </a:t>
            </a:r>
            <a:r>
              <a:rPr dirty="0" sz="1700" spc="-10">
                <a:latin typeface="Times New Roman"/>
                <a:cs typeface="Times New Roman"/>
              </a:rPr>
              <a:t>acceleration-</a:t>
            </a:r>
            <a:r>
              <a:rPr dirty="0" sz="1700">
                <a:latin typeface="Times New Roman"/>
                <a:cs typeface="Times New Roman"/>
              </a:rPr>
              <a:t>based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fusion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techniques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can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optionally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applied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enhance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motion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classification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accuracy.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B.</a:t>
            </a:r>
            <a:r>
              <a:rPr dirty="0" sz="1700" spc="-3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Processing</a:t>
            </a:r>
            <a:r>
              <a:rPr dirty="0" sz="1700" spc="-30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Subsystem</a:t>
            </a:r>
            <a:endParaRPr sz="170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135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ESP32</a:t>
            </a:r>
            <a:r>
              <a:rPr dirty="0" sz="1700" spc="14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microcontroller</a:t>
            </a:r>
            <a:r>
              <a:rPr dirty="0" sz="1700" spc="14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performs</a:t>
            </a:r>
            <a:r>
              <a:rPr dirty="0" sz="1700" spc="135">
                <a:latin typeface="Times New Roman"/>
                <a:cs typeface="Times New Roman"/>
              </a:rPr>
              <a:t>  </a:t>
            </a:r>
            <a:r>
              <a:rPr dirty="0" sz="1700" spc="-10">
                <a:latin typeface="Times New Roman"/>
                <a:cs typeface="Times New Roman"/>
              </a:rPr>
              <a:t>real-</a:t>
            </a:r>
            <a:r>
              <a:rPr dirty="0" sz="1700">
                <a:latin typeface="Times New Roman"/>
                <a:cs typeface="Times New Roman"/>
              </a:rPr>
              <a:t>time</a:t>
            </a:r>
            <a:r>
              <a:rPr dirty="0" sz="1700" spc="14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acquisition,</a:t>
            </a:r>
            <a:r>
              <a:rPr dirty="0" sz="1700" spc="14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digital</a:t>
            </a:r>
            <a:r>
              <a:rPr dirty="0" sz="1700" spc="135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filtering,</a:t>
            </a:r>
            <a:r>
              <a:rPr dirty="0" sz="1700" spc="14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threshold</a:t>
            </a:r>
            <a:r>
              <a:rPr dirty="0" sz="1700" spc="14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comparison,</a:t>
            </a:r>
            <a:r>
              <a:rPr dirty="0" sz="1700" spc="135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14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state</a:t>
            </a:r>
            <a:r>
              <a:rPr dirty="0" sz="1700" spc="140">
                <a:latin typeface="Times New Roman"/>
                <a:cs typeface="Times New Roman"/>
              </a:rPr>
              <a:t>  </a:t>
            </a:r>
            <a:r>
              <a:rPr dirty="0" sz="1700" spc="-10">
                <a:latin typeface="Times New Roman"/>
                <a:cs typeface="Times New Roman"/>
              </a:rPr>
              <a:t>transition </a:t>
            </a:r>
            <a:r>
              <a:rPr dirty="0" sz="1700">
                <a:latin typeface="Times New Roman"/>
                <a:cs typeface="Times New Roman"/>
              </a:rPr>
              <a:t>management.</a:t>
            </a:r>
            <a:r>
              <a:rPr dirty="0" sz="1700" spc="1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Its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dual-</a:t>
            </a:r>
            <a:r>
              <a:rPr dirty="0" sz="1700">
                <a:latin typeface="Times New Roman"/>
                <a:cs typeface="Times New Roman"/>
              </a:rPr>
              <a:t>core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architecture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enables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efficient</a:t>
            </a:r>
            <a:r>
              <a:rPr dirty="0" sz="1700" spc="1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task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allocation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between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sensor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sampling</a:t>
            </a:r>
            <a:r>
              <a:rPr dirty="0" sz="1700" spc="1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communication</a:t>
            </a:r>
            <a:r>
              <a:rPr dirty="0" sz="1700" spc="1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handling. Interrupt-</a:t>
            </a:r>
            <a:r>
              <a:rPr dirty="0" sz="1700">
                <a:latin typeface="Times New Roman"/>
                <a:cs typeface="Times New Roman"/>
              </a:rPr>
              <a:t>driven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design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ensures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minimal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processing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latency.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latin typeface="Times New Roman"/>
                <a:cs typeface="Times New Roman"/>
              </a:rPr>
              <a:t>C.</a:t>
            </a:r>
            <a:r>
              <a:rPr dirty="0" sz="1700" spc="-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Communication</a:t>
            </a:r>
            <a:r>
              <a:rPr dirty="0" sz="1700" spc="-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Subsystem</a:t>
            </a:r>
            <a:endParaRPr sz="170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SIM800L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GSM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module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operates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over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standard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cellular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infrastructure,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enabling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SMS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transmission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independent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17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internet </a:t>
            </a:r>
            <a:r>
              <a:rPr dirty="0" sz="1700">
                <a:latin typeface="Times New Roman"/>
                <a:cs typeface="Times New Roman"/>
              </a:rPr>
              <a:t>connectivity.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GPS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Neo-</a:t>
            </a:r>
            <a:r>
              <a:rPr dirty="0" sz="1700">
                <a:latin typeface="Times New Roman"/>
                <a:cs typeface="Times New Roman"/>
              </a:rPr>
              <a:t>6M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module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computes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latitude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longitude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satellite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trilateration.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Location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data</a:t>
            </a:r>
            <a:r>
              <a:rPr dirty="0" sz="1700" spc="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are</a:t>
            </a:r>
            <a:r>
              <a:rPr dirty="0" sz="1700" spc="6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embedded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4379" y="-63580"/>
            <a:ext cx="11137265" cy="6360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D.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Power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Management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Subsystem</a:t>
            </a:r>
            <a:endParaRPr sz="1800">
              <a:latin typeface="Times New Roman"/>
              <a:cs typeface="Times New Roman"/>
            </a:endParaRPr>
          </a:p>
          <a:p>
            <a:pPr algn="just" marL="12700" marR="5080" indent="457200">
              <a:lnSpc>
                <a:spcPct val="150000"/>
              </a:lnSpc>
              <a:spcBef>
                <a:spcPts val="800"/>
              </a:spcBef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Hall-</a:t>
            </a:r>
            <a:r>
              <a:rPr dirty="0" sz="1800">
                <a:latin typeface="Times New Roman"/>
                <a:cs typeface="Times New Roman"/>
              </a:rPr>
              <a:t>effect sensor</a:t>
            </a:r>
            <a:r>
              <a:rPr dirty="0" sz="1800">
                <a:latin typeface="Times New Roman"/>
                <a:cs typeface="Times New Roman"/>
              </a:rPr>
              <a:t> detects helmet fastening through magnetic proximity. Upon activation, the FQPF27P06 </a:t>
            </a:r>
            <a:r>
              <a:rPr dirty="0" sz="1800" spc="-25">
                <a:latin typeface="Times New Roman"/>
                <a:cs typeface="Times New Roman"/>
              </a:rPr>
              <a:t>P-</a:t>
            </a:r>
            <a:r>
              <a:rPr dirty="0" sz="1800">
                <a:latin typeface="Times New Roman"/>
                <a:cs typeface="Times New Roman"/>
              </a:rPr>
              <a:t>channel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MOSFET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enables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high-</a:t>
            </a:r>
            <a:r>
              <a:rPr dirty="0" sz="1800">
                <a:latin typeface="Times New Roman"/>
                <a:cs typeface="Times New Roman"/>
              </a:rPr>
              <a:t>side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power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delivery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ESP32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peripheral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modules.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Boost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buck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converters </a:t>
            </a:r>
            <a:r>
              <a:rPr dirty="0" sz="1800">
                <a:latin typeface="Times New Roman"/>
                <a:cs typeface="Times New Roman"/>
              </a:rPr>
              <a:t>regulate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voltage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levels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stable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operation.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TP4056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charging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module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ensures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safe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Li-</a:t>
            </a:r>
            <a:r>
              <a:rPr dirty="0" sz="1800">
                <a:latin typeface="Times New Roman"/>
                <a:cs typeface="Times New Roman"/>
              </a:rPr>
              <a:t>ion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battery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charging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using constant-current/constant-</a:t>
            </a:r>
            <a:r>
              <a:rPr dirty="0" sz="1800">
                <a:latin typeface="Times New Roman"/>
                <a:cs typeface="Times New Roman"/>
              </a:rPr>
              <a:t>voltage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methodology.</a:t>
            </a:r>
            <a:endParaRPr sz="1800">
              <a:latin typeface="Times New Roman"/>
              <a:cs typeface="Times New Roman"/>
            </a:endParaRPr>
          </a:p>
          <a:p>
            <a:pPr algn="just" marL="12700" marR="8255" indent="457200">
              <a:lnSpc>
                <a:spcPct val="150000"/>
              </a:lnSpc>
              <a:spcBef>
                <a:spcPts val="800"/>
              </a:spcBef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ensures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sensing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subsystems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energized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only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during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active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use, </a:t>
            </a:r>
            <a:r>
              <a:rPr dirty="0" sz="1800">
                <a:latin typeface="Times New Roman"/>
                <a:cs typeface="Times New Roman"/>
              </a:rPr>
              <a:t>significantly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energy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consumption.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Advantages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Over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Existing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Methodology: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spcBef>
                <a:spcPts val="800"/>
              </a:spcBef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Automatically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accidents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multi-</a:t>
            </a:r>
            <a:r>
              <a:rPr dirty="0" sz="1800">
                <a:latin typeface="Times New Roman"/>
                <a:cs typeface="Times New Roman"/>
              </a:rPr>
              <a:t>sensor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fusion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without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requiring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manual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activation.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Ensures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immediate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response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if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rider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unconscious.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 spc="-10">
                <a:latin typeface="Times New Roman"/>
                <a:cs typeface="Times New Roman"/>
              </a:rPr>
              <a:t>Buckle-</a:t>
            </a:r>
            <a:r>
              <a:rPr dirty="0" sz="1800">
                <a:latin typeface="Times New Roman"/>
                <a:cs typeface="Times New Roman"/>
              </a:rPr>
              <a:t>activated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mechanism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operates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helmet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worn.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Improves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safety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compliance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unnecessary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power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consumption.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Combines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accelerometer,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gyroscope,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vibration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minimize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false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alarms.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crash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compared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single-</a:t>
            </a:r>
            <a:r>
              <a:rPr dirty="0" sz="1800">
                <a:latin typeface="Times New Roman"/>
                <a:cs typeface="Times New Roman"/>
              </a:rPr>
              <a:t>sensor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systems.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Sends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real-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GPS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location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GSM-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without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internet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dependency.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Ensures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reliable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emergency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remote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areas.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Implements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power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management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standby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selective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module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activation.</a:t>
            </a:r>
            <a:endParaRPr sz="1800">
              <a:latin typeface="Times New Roman"/>
              <a:cs typeface="Times New Roman"/>
            </a:endParaRPr>
          </a:p>
          <a:p>
            <a:pPr marL="586105" indent="-342900">
              <a:lnSpc>
                <a:spcPct val="100000"/>
              </a:lnSpc>
              <a:buFont typeface="Segoe UI Symbol"/>
              <a:buChar char="➢"/>
              <a:tabLst>
                <a:tab pos="586105" algn="l"/>
              </a:tabLst>
            </a:pPr>
            <a:r>
              <a:rPr dirty="0" sz="1800">
                <a:latin typeface="Times New Roman"/>
                <a:cs typeface="Times New Roman"/>
              </a:rPr>
              <a:t>Extends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battery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life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overall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efficiency.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ARCHITECTURE: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226" y="698500"/>
            <a:ext cx="10215714" cy="5889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13888"/>
            <a:ext cx="439991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METHODOLOGY: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31727" y="692141"/>
            <a:ext cx="13620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Times New Roman"/>
                <a:cs typeface="Times New Roman"/>
              </a:rPr>
              <a:t>Flowchart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125" y="1235933"/>
            <a:ext cx="10087648" cy="52767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353" y="331547"/>
            <a:ext cx="7282815" cy="6122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Times New Roman"/>
                <a:cs typeface="Times New Roman"/>
              </a:rPr>
              <a:t>Step-</a:t>
            </a:r>
            <a:r>
              <a:rPr dirty="0" sz="2000" b="1">
                <a:latin typeface="Times New Roman"/>
                <a:cs typeface="Times New Roman"/>
              </a:rPr>
              <a:t>1:</a:t>
            </a:r>
            <a:r>
              <a:rPr dirty="0" sz="2000" spc="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Helmet</a:t>
            </a:r>
            <a:r>
              <a:rPr dirty="0" sz="2000" spc="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Wear</a:t>
            </a:r>
            <a:r>
              <a:rPr dirty="0" sz="2000" spc="1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Detection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Hall-</a:t>
            </a:r>
            <a:r>
              <a:rPr dirty="0" sz="2000">
                <a:latin typeface="Times New Roman"/>
                <a:cs typeface="Times New Roman"/>
              </a:rPr>
              <a:t>effect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checks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whether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helmet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buckle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fastened.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buckled,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remains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OFF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(ultra-</a:t>
            </a:r>
            <a:r>
              <a:rPr dirty="0" sz="2000">
                <a:latin typeface="Times New Roman"/>
                <a:cs typeface="Times New Roman"/>
              </a:rPr>
              <a:t>low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power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mode).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Step-</a:t>
            </a:r>
            <a:r>
              <a:rPr dirty="0" sz="2000" b="1">
                <a:latin typeface="Times New Roman"/>
                <a:cs typeface="Times New Roman"/>
              </a:rPr>
              <a:t>2:</a:t>
            </a:r>
            <a:r>
              <a:rPr dirty="0" sz="2000" spc="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System</a:t>
            </a:r>
            <a:r>
              <a:rPr dirty="0" sz="2000" spc="1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Activation</a:t>
            </a:r>
            <a:endParaRPr sz="2000">
              <a:latin typeface="Times New Roman"/>
              <a:cs typeface="Times New Roman"/>
            </a:endParaRPr>
          </a:p>
          <a:p>
            <a:pPr marL="12700" marR="537845" indent="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helmet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buckled,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power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supplied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ESP32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 spc="-10">
                <a:latin typeface="Times New Roman"/>
                <a:cs typeface="Times New Roman"/>
              </a:rPr>
              <a:t>sensors.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MPU6050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IMU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vibration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sensor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initialized.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Step-</a:t>
            </a:r>
            <a:r>
              <a:rPr dirty="0" sz="2000" b="1">
                <a:latin typeface="Times New Roman"/>
                <a:cs typeface="Times New Roman"/>
              </a:rPr>
              <a:t>3: Continuous </a:t>
            </a:r>
            <a:r>
              <a:rPr dirty="0" sz="2000" spc="-10" b="1">
                <a:latin typeface="Times New Roman"/>
                <a:cs typeface="Times New Roman"/>
              </a:rPr>
              <a:t>Monitoring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ESP32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continuously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reads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acceleration,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tilt,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vibration</a:t>
            </a:r>
            <a:r>
              <a:rPr dirty="0" sz="2000" spc="-10">
                <a:latin typeface="Times New Roman"/>
                <a:cs typeface="Times New Roman"/>
              </a:rPr>
              <a:t> data.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motion data is processed using threshold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comparison.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Step-</a:t>
            </a:r>
            <a:r>
              <a:rPr dirty="0" sz="2000" b="1">
                <a:latin typeface="Times New Roman"/>
                <a:cs typeface="Times New Roman"/>
              </a:rPr>
              <a:t>4: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Abnormal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Motion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Detection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sudden impact, high </a:t>
            </a:r>
            <a:r>
              <a:rPr dirty="0" sz="2000" spc="-10">
                <a:latin typeface="Times New Roman"/>
                <a:cs typeface="Times New Roman"/>
              </a:rPr>
              <a:t>G-</a:t>
            </a:r>
            <a:r>
              <a:rPr dirty="0" sz="2000">
                <a:latin typeface="Times New Roman"/>
                <a:cs typeface="Times New Roman"/>
              </a:rPr>
              <a:t>force,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 abnormal tilt is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detected,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flags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potential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accident</a:t>
            </a:r>
            <a:r>
              <a:rPr dirty="0" sz="2000" spc="-10">
                <a:latin typeface="Times New Roman"/>
                <a:cs typeface="Times New Roman"/>
              </a:rPr>
              <a:t> condition.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Arial"/>
                <a:cs typeface="Arial"/>
              </a:rPr>
              <a:t>Step-</a:t>
            </a:r>
            <a:r>
              <a:rPr dirty="0" sz="2000" b="1">
                <a:latin typeface="Arial"/>
                <a:cs typeface="Arial"/>
              </a:rPr>
              <a:t>5: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Accident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Verification</a:t>
            </a:r>
            <a:endParaRPr sz="2000">
              <a:latin typeface="Arial"/>
              <a:cs typeface="Arial"/>
            </a:endParaRPr>
          </a:p>
          <a:p>
            <a:pPr marL="171450" indent="-158750">
              <a:lnSpc>
                <a:spcPct val="100000"/>
              </a:lnSpc>
              <a:buChar char="•"/>
              <a:tabLst>
                <a:tab pos="171450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ESP32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performs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threshold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validation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avoid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false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alarms.</a:t>
            </a:r>
            <a:endParaRPr sz="2000">
              <a:latin typeface="Arial MT"/>
              <a:cs typeface="Arial MT"/>
            </a:endParaRPr>
          </a:p>
          <a:p>
            <a:pPr marL="171450" indent="-158750">
              <a:lnSpc>
                <a:spcPct val="100000"/>
              </a:lnSpc>
              <a:buChar char="•"/>
              <a:tabLst>
                <a:tab pos="171450" algn="l"/>
              </a:tabLst>
            </a:pP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values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exceed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predefined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crash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limits,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accident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confirmed.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84655" y="732914"/>
            <a:ext cx="4066540" cy="5549900"/>
            <a:chOff x="7884655" y="732914"/>
            <a:chExt cx="4066540" cy="5549900"/>
          </a:xfrm>
        </p:grpSpPr>
        <p:sp>
          <p:nvSpPr>
            <p:cNvPr id="4" name="object 4"/>
            <p:cNvSpPr/>
            <p:nvPr/>
          </p:nvSpPr>
          <p:spPr>
            <a:xfrm>
              <a:off x="7884655" y="2877769"/>
              <a:ext cx="3910965" cy="1276985"/>
            </a:xfrm>
            <a:custGeom>
              <a:avLst/>
              <a:gdLst/>
              <a:ahLst/>
              <a:cxnLst/>
              <a:rect l="l" t="t" r="r" b="b"/>
              <a:pathLst>
                <a:path w="3910965" h="1276985">
                  <a:moveTo>
                    <a:pt x="3910685" y="0"/>
                  </a:moveTo>
                  <a:lnTo>
                    <a:pt x="0" y="0"/>
                  </a:lnTo>
                  <a:lnTo>
                    <a:pt x="0" y="1276388"/>
                  </a:lnTo>
                  <a:lnTo>
                    <a:pt x="3910685" y="1276388"/>
                  </a:lnTo>
                  <a:lnTo>
                    <a:pt x="3910685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982559" y="796414"/>
              <a:ext cx="3905250" cy="5422900"/>
            </a:xfrm>
            <a:custGeom>
              <a:avLst/>
              <a:gdLst/>
              <a:ahLst/>
              <a:cxnLst/>
              <a:rect l="l" t="t" r="r" b="b"/>
              <a:pathLst>
                <a:path w="3905250" h="5422900">
                  <a:moveTo>
                    <a:pt x="0" y="0"/>
                  </a:moveTo>
                  <a:lnTo>
                    <a:pt x="3904640" y="0"/>
                  </a:lnTo>
                  <a:lnTo>
                    <a:pt x="3904640" y="5422493"/>
                  </a:lnTo>
                  <a:lnTo>
                    <a:pt x="0" y="5422493"/>
                  </a:lnTo>
                  <a:lnTo>
                    <a:pt x="0" y="0"/>
                  </a:lnTo>
                  <a:close/>
                </a:path>
              </a:pathLst>
            </a:custGeom>
            <a:ln w="126999">
              <a:solidFill>
                <a:srgbClr val="CAEDF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7351" y="796414"/>
              <a:ext cx="3879848" cy="54017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982559" y="796414"/>
              <a:ext cx="3905250" cy="5422900"/>
            </a:xfrm>
            <a:custGeom>
              <a:avLst/>
              <a:gdLst/>
              <a:ahLst/>
              <a:cxnLst/>
              <a:rect l="l" t="t" r="r" b="b"/>
              <a:pathLst>
                <a:path w="3905250" h="5422900">
                  <a:moveTo>
                    <a:pt x="0" y="0"/>
                  </a:moveTo>
                  <a:lnTo>
                    <a:pt x="3904640" y="0"/>
                  </a:lnTo>
                  <a:lnTo>
                    <a:pt x="3904640" y="5422493"/>
                  </a:lnTo>
                  <a:lnTo>
                    <a:pt x="0" y="5422493"/>
                  </a:lnTo>
                  <a:lnTo>
                    <a:pt x="0" y="0"/>
                  </a:lnTo>
                  <a:close/>
                </a:path>
              </a:pathLst>
            </a:custGeom>
            <a:ln w="126999">
              <a:solidFill>
                <a:srgbClr val="CAED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198" y="433609"/>
            <a:ext cx="7392034" cy="490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Times New Roman"/>
                <a:cs typeface="Times New Roman"/>
              </a:rPr>
              <a:t>Step-</a:t>
            </a:r>
            <a:r>
              <a:rPr dirty="0" sz="2000" b="1">
                <a:latin typeface="Times New Roman"/>
                <a:cs typeface="Times New Roman"/>
              </a:rPr>
              <a:t>6: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GPS</a:t>
            </a:r>
            <a:r>
              <a:rPr dirty="0" sz="2000" spc="1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Activation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Neo-</a:t>
            </a:r>
            <a:r>
              <a:rPr dirty="0" sz="2000">
                <a:latin typeface="Times New Roman"/>
                <a:cs typeface="Times New Roman"/>
              </a:rPr>
              <a:t>6M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GPS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powered</a:t>
            </a:r>
            <a:r>
              <a:rPr dirty="0" sz="2000" spc="-25">
                <a:latin typeface="Times New Roman"/>
                <a:cs typeface="Times New Roman"/>
              </a:rPr>
              <a:t> ON.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 latitude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 longitude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coordinates are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acquired.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Step-</a:t>
            </a:r>
            <a:r>
              <a:rPr dirty="0" sz="2000" b="1">
                <a:latin typeface="Times New Roman"/>
                <a:cs typeface="Times New Roman"/>
              </a:rPr>
              <a:t>7: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Consciousness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Check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SIM800L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GSM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module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sends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rider.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rider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given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short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window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10">
                <a:latin typeface="Times New Roman"/>
                <a:cs typeface="Times New Roman"/>
              </a:rPr>
              <a:t> respond.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Step-</a:t>
            </a:r>
            <a:r>
              <a:rPr dirty="0" sz="2000" b="1">
                <a:latin typeface="Times New Roman"/>
                <a:cs typeface="Times New Roman"/>
              </a:rPr>
              <a:t>8: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Emergency</a:t>
            </a:r>
            <a:r>
              <a:rPr dirty="0" sz="2000" spc="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Alert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response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received,</a:t>
            </a:r>
            <a:endParaRPr sz="2000">
              <a:latin typeface="Times New Roman"/>
              <a:cs typeface="Times New Roman"/>
            </a:endParaRPr>
          </a:p>
          <a:p>
            <a:pPr marL="12700" marR="5080" indent="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automatically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sends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emergency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GPS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location </a:t>
            </a:r>
            <a:r>
              <a:rPr dirty="0" sz="2000">
                <a:latin typeface="Times New Roman"/>
                <a:cs typeface="Times New Roman"/>
              </a:rPr>
              <a:t>(Google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Maps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link).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Step-</a:t>
            </a:r>
            <a:r>
              <a:rPr dirty="0" sz="2000" b="1">
                <a:latin typeface="Times New Roman"/>
                <a:cs typeface="Times New Roman"/>
              </a:rPr>
              <a:t>9: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Notification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Contacts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Emergency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contacts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receive accident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details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 live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location.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dirty="0" sz="2000">
                <a:latin typeface="Times New Roman"/>
                <a:cs typeface="Times New Roman"/>
              </a:rPr>
              <a:t>Quick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response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medical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assistance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initiated.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73479" y="624757"/>
            <a:ext cx="4008120" cy="5290820"/>
            <a:chOff x="7973479" y="624757"/>
            <a:chExt cx="4008120" cy="5290820"/>
          </a:xfrm>
        </p:grpSpPr>
        <p:sp>
          <p:nvSpPr>
            <p:cNvPr id="4" name="object 4"/>
            <p:cNvSpPr/>
            <p:nvPr/>
          </p:nvSpPr>
          <p:spPr>
            <a:xfrm>
              <a:off x="7973479" y="2669946"/>
              <a:ext cx="3853815" cy="1217295"/>
            </a:xfrm>
            <a:custGeom>
              <a:avLst/>
              <a:gdLst/>
              <a:ahLst/>
              <a:cxnLst/>
              <a:rect l="l" t="t" r="r" b="b"/>
              <a:pathLst>
                <a:path w="3853815" h="1217295">
                  <a:moveTo>
                    <a:pt x="3853459" y="0"/>
                  </a:moveTo>
                  <a:lnTo>
                    <a:pt x="0" y="0"/>
                  </a:lnTo>
                  <a:lnTo>
                    <a:pt x="0" y="1216837"/>
                  </a:lnTo>
                  <a:lnTo>
                    <a:pt x="3853459" y="1216837"/>
                  </a:lnTo>
                  <a:lnTo>
                    <a:pt x="3853459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072285" y="688257"/>
              <a:ext cx="3846195" cy="5163820"/>
            </a:xfrm>
            <a:custGeom>
              <a:avLst/>
              <a:gdLst/>
              <a:ahLst/>
              <a:cxnLst/>
              <a:rect l="l" t="t" r="r" b="b"/>
              <a:pathLst>
                <a:path w="3846195" h="5163820">
                  <a:moveTo>
                    <a:pt x="0" y="0"/>
                  </a:moveTo>
                  <a:lnTo>
                    <a:pt x="3845648" y="0"/>
                  </a:lnTo>
                  <a:lnTo>
                    <a:pt x="3845648" y="5163604"/>
                  </a:lnTo>
                  <a:lnTo>
                    <a:pt x="0" y="5163604"/>
                  </a:lnTo>
                  <a:lnTo>
                    <a:pt x="0" y="0"/>
                  </a:lnTo>
                  <a:close/>
                </a:path>
              </a:pathLst>
            </a:custGeom>
            <a:ln w="126999">
              <a:solidFill>
                <a:srgbClr val="CAEDF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2285" y="688257"/>
              <a:ext cx="3845636" cy="51636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072285" y="688257"/>
              <a:ext cx="3846195" cy="5163820"/>
            </a:xfrm>
            <a:custGeom>
              <a:avLst/>
              <a:gdLst/>
              <a:ahLst/>
              <a:cxnLst/>
              <a:rect l="l" t="t" r="r" b="b"/>
              <a:pathLst>
                <a:path w="3846195" h="5163820">
                  <a:moveTo>
                    <a:pt x="0" y="0"/>
                  </a:moveTo>
                  <a:lnTo>
                    <a:pt x="3845648" y="0"/>
                  </a:lnTo>
                  <a:lnTo>
                    <a:pt x="3845648" y="5163604"/>
                  </a:lnTo>
                  <a:lnTo>
                    <a:pt x="0" y="5163604"/>
                  </a:lnTo>
                  <a:lnTo>
                    <a:pt x="0" y="0"/>
                  </a:lnTo>
                  <a:close/>
                </a:path>
              </a:pathLst>
            </a:custGeom>
            <a:ln w="126999">
              <a:solidFill>
                <a:srgbClr val="CAED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75" y="266896"/>
            <a:ext cx="53746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CIRCUIT</a:t>
            </a:r>
            <a:r>
              <a:rPr dirty="0" sz="4400" spc="-40"/>
              <a:t> </a:t>
            </a:r>
            <a:r>
              <a:rPr dirty="0" sz="4400" spc="-10"/>
              <a:t>DIAGRAM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2661" y="1005302"/>
            <a:ext cx="9426676" cy="54201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53100" y="1108744"/>
            <a:ext cx="6247130" cy="3957954"/>
            <a:chOff x="5753100" y="1108744"/>
            <a:chExt cx="6247130" cy="3957954"/>
          </a:xfrm>
        </p:grpSpPr>
        <p:sp>
          <p:nvSpPr>
            <p:cNvPr id="3" name="object 3"/>
            <p:cNvSpPr/>
            <p:nvPr/>
          </p:nvSpPr>
          <p:spPr>
            <a:xfrm>
              <a:off x="5791199" y="1146844"/>
              <a:ext cx="6170930" cy="3881754"/>
            </a:xfrm>
            <a:custGeom>
              <a:avLst/>
              <a:gdLst/>
              <a:ahLst/>
              <a:cxnLst/>
              <a:rect l="l" t="t" r="r" b="b"/>
              <a:pathLst>
                <a:path w="6170930" h="3881754">
                  <a:moveTo>
                    <a:pt x="0" y="161747"/>
                  </a:moveTo>
                  <a:lnTo>
                    <a:pt x="5819" y="118955"/>
                  </a:lnTo>
                  <a:lnTo>
                    <a:pt x="22215" y="80375"/>
                  </a:lnTo>
                  <a:lnTo>
                    <a:pt x="47597" y="47598"/>
                  </a:lnTo>
                  <a:lnTo>
                    <a:pt x="80374" y="22215"/>
                  </a:lnTo>
                  <a:lnTo>
                    <a:pt x="118953" y="5819"/>
                  </a:lnTo>
                  <a:lnTo>
                    <a:pt x="161743" y="0"/>
                  </a:lnTo>
                  <a:lnTo>
                    <a:pt x="6008979" y="0"/>
                  </a:lnTo>
                  <a:lnTo>
                    <a:pt x="6051771" y="5819"/>
                  </a:lnTo>
                  <a:lnTo>
                    <a:pt x="6090351" y="22215"/>
                  </a:lnTo>
                  <a:lnTo>
                    <a:pt x="6123128" y="47598"/>
                  </a:lnTo>
                  <a:lnTo>
                    <a:pt x="6148511" y="80375"/>
                  </a:lnTo>
                  <a:lnTo>
                    <a:pt x="6164907" y="118955"/>
                  </a:lnTo>
                  <a:lnTo>
                    <a:pt x="6170726" y="161747"/>
                  </a:lnTo>
                  <a:lnTo>
                    <a:pt x="6170726" y="3719779"/>
                  </a:lnTo>
                  <a:lnTo>
                    <a:pt x="6164907" y="3762571"/>
                  </a:lnTo>
                  <a:lnTo>
                    <a:pt x="6148511" y="3801151"/>
                  </a:lnTo>
                  <a:lnTo>
                    <a:pt x="6123128" y="3833928"/>
                  </a:lnTo>
                  <a:lnTo>
                    <a:pt x="6090351" y="3859310"/>
                  </a:lnTo>
                  <a:lnTo>
                    <a:pt x="6051771" y="3875707"/>
                  </a:lnTo>
                  <a:lnTo>
                    <a:pt x="6008979" y="3881526"/>
                  </a:lnTo>
                  <a:lnTo>
                    <a:pt x="161743" y="3881526"/>
                  </a:lnTo>
                  <a:lnTo>
                    <a:pt x="118953" y="3875707"/>
                  </a:lnTo>
                  <a:lnTo>
                    <a:pt x="80374" y="3859310"/>
                  </a:lnTo>
                  <a:lnTo>
                    <a:pt x="47597" y="3833928"/>
                  </a:lnTo>
                  <a:lnTo>
                    <a:pt x="22215" y="3801151"/>
                  </a:lnTo>
                  <a:lnTo>
                    <a:pt x="5819" y="3762571"/>
                  </a:lnTo>
                  <a:lnTo>
                    <a:pt x="0" y="3719779"/>
                  </a:lnTo>
                  <a:lnTo>
                    <a:pt x="0" y="161747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199" y="1146844"/>
              <a:ext cx="6170726" cy="38815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91199" y="1146844"/>
              <a:ext cx="6170930" cy="3881754"/>
            </a:xfrm>
            <a:custGeom>
              <a:avLst/>
              <a:gdLst/>
              <a:ahLst/>
              <a:cxnLst/>
              <a:rect l="l" t="t" r="r" b="b"/>
              <a:pathLst>
                <a:path w="6170930" h="3881754">
                  <a:moveTo>
                    <a:pt x="0" y="161747"/>
                  </a:moveTo>
                  <a:lnTo>
                    <a:pt x="5819" y="118955"/>
                  </a:lnTo>
                  <a:lnTo>
                    <a:pt x="22215" y="80375"/>
                  </a:lnTo>
                  <a:lnTo>
                    <a:pt x="47597" y="47598"/>
                  </a:lnTo>
                  <a:lnTo>
                    <a:pt x="80374" y="22215"/>
                  </a:lnTo>
                  <a:lnTo>
                    <a:pt x="118953" y="5819"/>
                  </a:lnTo>
                  <a:lnTo>
                    <a:pt x="161743" y="0"/>
                  </a:lnTo>
                  <a:lnTo>
                    <a:pt x="6008979" y="0"/>
                  </a:lnTo>
                  <a:lnTo>
                    <a:pt x="6051771" y="5819"/>
                  </a:lnTo>
                  <a:lnTo>
                    <a:pt x="6090351" y="22215"/>
                  </a:lnTo>
                  <a:lnTo>
                    <a:pt x="6123128" y="47598"/>
                  </a:lnTo>
                  <a:lnTo>
                    <a:pt x="6148511" y="80375"/>
                  </a:lnTo>
                  <a:lnTo>
                    <a:pt x="6164907" y="118955"/>
                  </a:lnTo>
                  <a:lnTo>
                    <a:pt x="6170726" y="161747"/>
                  </a:lnTo>
                  <a:lnTo>
                    <a:pt x="6170726" y="3719779"/>
                  </a:lnTo>
                  <a:lnTo>
                    <a:pt x="6164907" y="3762571"/>
                  </a:lnTo>
                  <a:lnTo>
                    <a:pt x="6148511" y="3801151"/>
                  </a:lnTo>
                  <a:lnTo>
                    <a:pt x="6123128" y="3833928"/>
                  </a:lnTo>
                  <a:lnTo>
                    <a:pt x="6090351" y="3859310"/>
                  </a:lnTo>
                  <a:lnTo>
                    <a:pt x="6051771" y="3875707"/>
                  </a:lnTo>
                  <a:lnTo>
                    <a:pt x="6008979" y="3881526"/>
                  </a:lnTo>
                  <a:lnTo>
                    <a:pt x="161743" y="3881526"/>
                  </a:lnTo>
                  <a:lnTo>
                    <a:pt x="118953" y="3875707"/>
                  </a:lnTo>
                  <a:lnTo>
                    <a:pt x="80374" y="3859310"/>
                  </a:lnTo>
                  <a:lnTo>
                    <a:pt x="47597" y="3833928"/>
                  </a:lnTo>
                  <a:lnTo>
                    <a:pt x="22215" y="3801151"/>
                  </a:lnTo>
                  <a:lnTo>
                    <a:pt x="5819" y="3762571"/>
                  </a:lnTo>
                  <a:lnTo>
                    <a:pt x="0" y="3719779"/>
                  </a:lnTo>
                  <a:lnTo>
                    <a:pt x="0" y="161747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814819" y="194207"/>
            <a:ext cx="1847850" cy="1061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400" spc="-10"/>
              <a:t>OUTPUT IMAGE’s</a:t>
            </a:r>
            <a:endParaRPr sz="3400"/>
          </a:p>
        </p:txBody>
      </p:sp>
      <p:grpSp>
        <p:nvGrpSpPr>
          <p:cNvPr id="7" name="object 7"/>
          <p:cNvGrpSpPr/>
          <p:nvPr/>
        </p:nvGrpSpPr>
        <p:grpSpPr>
          <a:xfrm>
            <a:off x="271526" y="4350766"/>
            <a:ext cx="2464435" cy="1866900"/>
            <a:chOff x="271526" y="4350766"/>
            <a:chExt cx="2464435" cy="1866900"/>
          </a:xfrm>
        </p:grpSpPr>
        <p:sp>
          <p:nvSpPr>
            <p:cNvPr id="8" name="object 8"/>
            <p:cNvSpPr/>
            <p:nvPr/>
          </p:nvSpPr>
          <p:spPr>
            <a:xfrm>
              <a:off x="309626" y="4388866"/>
              <a:ext cx="2388235" cy="1790700"/>
            </a:xfrm>
            <a:custGeom>
              <a:avLst/>
              <a:gdLst/>
              <a:ahLst/>
              <a:cxnLst/>
              <a:rect l="l" t="t" r="r" b="b"/>
              <a:pathLst>
                <a:path w="2388235" h="1790700">
                  <a:moveTo>
                    <a:pt x="0" y="74612"/>
                  </a:moveTo>
                  <a:lnTo>
                    <a:pt x="5901" y="45686"/>
                  </a:lnTo>
                  <a:lnTo>
                    <a:pt x="21955" y="21956"/>
                  </a:lnTo>
                  <a:lnTo>
                    <a:pt x="45683" y="5902"/>
                  </a:lnTo>
                  <a:lnTo>
                    <a:pt x="74608" y="0"/>
                  </a:lnTo>
                  <a:lnTo>
                    <a:pt x="2313368" y="0"/>
                  </a:lnTo>
                  <a:lnTo>
                    <a:pt x="2342287" y="5902"/>
                  </a:lnTo>
                  <a:lnTo>
                    <a:pt x="2366013" y="21956"/>
                  </a:lnTo>
                  <a:lnTo>
                    <a:pt x="2382066" y="45686"/>
                  </a:lnTo>
                  <a:lnTo>
                    <a:pt x="2387968" y="74612"/>
                  </a:lnTo>
                  <a:lnTo>
                    <a:pt x="2387968" y="1715858"/>
                  </a:lnTo>
                  <a:lnTo>
                    <a:pt x="2382066" y="1744783"/>
                  </a:lnTo>
                  <a:lnTo>
                    <a:pt x="2366013" y="1768508"/>
                  </a:lnTo>
                  <a:lnTo>
                    <a:pt x="2342287" y="1784558"/>
                  </a:lnTo>
                  <a:lnTo>
                    <a:pt x="2313368" y="1790458"/>
                  </a:lnTo>
                  <a:lnTo>
                    <a:pt x="74608" y="1790458"/>
                  </a:lnTo>
                  <a:lnTo>
                    <a:pt x="45683" y="1784558"/>
                  </a:lnTo>
                  <a:lnTo>
                    <a:pt x="21955" y="1768508"/>
                  </a:lnTo>
                  <a:lnTo>
                    <a:pt x="5901" y="1744783"/>
                  </a:lnTo>
                  <a:lnTo>
                    <a:pt x="0" y="1715858"/>
                  </a:lnTo>
                  <a:lnTo>
                    <a:pt x="0" y="74612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626" y="4388866"/>
              <a:ext cx="2387968" cy="179045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626" y="4388866"/>
              <a:ext cx="2388235" cy="1790700"/>
            </a:xfrm>
            <a:custGeom>
              <a:avLst/>
              <a:gdLst/>
              <a:ahLst/>
              <a:cxnLst/>
              <a:rect l="l" t="t" r="r" b="b"/>
              <a:pathLst>
                <a:path w="2388235" h="1790700">
                  <a:moveTo>
                    <a:pt x="0" y="74612"/>
                  </a:moveTo>
                  <a:lnTo>
                    <a:pt x="5901" y="45686"/>
                  </a:lnTo>
                  <a:lnTo>
                    <a:pt x="21955" y="21956"/>
                  </a:lnTo>
                  <a:lnTo>
                    <a:pt x="45683" y="5902"/>
                  </a:lnTo>
                  <a:lnTo>
                    <a:pt x="74608" y="0"/>
                  </a:lnTo>
                  <a:lnTo>
                    <a:pt x="2313368" y="0"/>
                  </a:lnTo>
                  <a:lnTo>
                    <a:pt x="2342287" y="5902"/>
                  </a:lnTo>
                  <a:lnTo>
                    <a:pt x="2366013" y="21956"/>
                  </a:lnTo>
                  <a:lnTo>
                    <a:pt x="2382066" y="45686"/>
                  </a:lnTo>
                  <a:lnTo>
                    <a:pt x="2387968" y="74612"/>
                  </a:lnTo>
                  <a:lnTo>
                    <a:pt x="2387968" y="1715858"/>
                  </a:lnTo>
                  <a:lnTo>
                    <a:pt x="2382066" y="1744783"/>
                  </a:lnTo>
                  <a:lnTo>
                    <a:pt x="2366013" y="1768508"/>
                  </a:lnTo>
                  <a:lnTo>
                    <a:pt x="2342287" y="1784558"/>
                  </a:lnTo>
                  <a:lnTo>
                    <a:pt x="2313368" y="1790458"/>
                  </a:lnTo>
                  <a:lnTo>
                    <a:pt x="74608" y="1790458"/>
                  </a:lnTo>
                  <a:lnTo>
                    <a:pt x="45683" y="1784558"/>
                  </a:lnTo>
                  <a:lnTo>
                    <a:pt x="21955" y="1768508"/>
                  </a:lnTo>
                  <a:lnTo>
                    <a:pt x="5901" y="1744783"/>
                  </a:lnTo>
                  <a:lnTo>
                    <a:pt x="0" y="1715858"/>
                  </a:lnTo>
                  <a:lnTo>
                    <a:pt x="0" y="74612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8739" y="203467"/>
            <a:ext cx="487108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b="1">
                <a:latin typeface="Times New Roman"/>
                <a:cs typeface="Times New Roman"/>
              </a:rPr>
              <a:t>HELMET</a:t>
            </a:r>
            <a:r>
              <a:rPr dirty="0" sz="3400" spc="-50" b="1">
                <a:latin typeface="Times New Roman"/>
                <a:cs typeface="Times New Roman"/>
              </a:rPr>
              <a:t> </a:t>
            </a:r>
            <a:r>
              <a:rPr dirty="0" sz="3400" b="1">
                <a:latin typeface="Times New Roman"/>
                <a:cs typeface="Times New Roman"/>
              </a:rPr>
              <a:t>OUTER</a:t>
            </a:r>
            <a:r>
              <a:rPr dirty="0" sz="3400" spc="-45" b="1">
                <a:latin typeface="Times New Roman"/>
                <a:cs typeface="Times New Roman"/>
              </a:rPr>
              <a:t> </a:t>
            </a:r>
            <a:r>
              <a:rPr dirty="0" sz="3400" spc="-20" b="1">
                <a:latin typeface="Times New Roman"/>
                <a:cs typeface="Times New Roman"/>
              </a:rPr>
              <a:t>VIEW</a:t>
            </a:r>
            <a:endParaRPr sz="3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13430" y="2906826"/>
            <a:ext cx="2462530" cy="1864995"/>
            <a:chOff x="3013430" y="2906826"/>
            <a:chExt cx="2462530" cy="1864995"/>
          </a:xfrm>
        </p:grpSpPr>
        <p:sp>
          <p:nvSpPr>
            <p:cNvPr id="13" name="object 13"/>
            <p:cNvSpPr/>
            <p:nvPr/>
          </p:nvSpPr>
          <p:spPr>
            <a:xfrm>
              <a:off x="3051530" y="2944926"/>
              <a:ext cx="2386330" cy="1788795"/>
            </a:xfrm>
            <a:custGeom>
              <a:avLst/>
              <a:gdLst/>
              <a:ahLst/>
              <a:cxnLst/>
              <a:rect l="l" t="t" r="r" b="b"/>
              <a:pathLst>
                <a:path w="2386329" h="1788795">
                  <a:moveTo>
                    <a:pt x="2385745" y="74536"/>
                  </a:moveTo>
                  <a:lnTo>
                    <a:pt x="2379849" y="45637"/>
                  </a:lnTo>
                  <a:lnTo>
                    <a:pt x="2363810" y="21932"/>
                  </a:lnTo>
                  <a:lnTo>
                    <a:pt x="2340104" y="5895"/>
                  </a:lnTo>
                  <a:lnTo>
                    <a:pt x="2311206" y="0"/>
                  </a:lnTo>
                  <a:lnTo>
                    <a:pt x="74536" y="0"/>
                  </a:lnTo>
                  <a:lnTo>
                    <a:pt x="45637" y="5895"/>
                  </a:lnTo>
                  <a:lnTo>
                    <a:pt x="21932" y="21932"/>
                  </a:lnTo>
                  <a:lnTo>
                    <a:pt x="5895" y="45637"/>
                  </a:lnTo>
                  <a:lnTo>
                    <a:pt x="0" y="74536"/>
                  </a:lnTo>
                  <a:lnTo>
                    <a:pt x="0" y="1714258"/>
                  </a:lnTo>
                  <a:lnTo>
                    <a:pt x="5895" y="1743157"/>
                  </a:lnTo>
                  <a:lnTo>
                    <a:pt x="21932" y="1766862"/>
                  </a:lnTo>
                  <a:lnTo>
                    <a:pt x="45637" y="1782899"/>
                  </a:lnTo>
                  <a:lnTo>
                    <a:pt x="74536" y="1788795"/>
                  </a:lnTo>
                  <a:lnTo>
                    <a:pt x="2311206" y="1788795"/>
                  </a:lnTo>
                  <a:lnTo>
                    <a:pt x="2340104" y="1782899"/>
                  </a:lnTo>
                  <a:lnTo>
                    <a:pt x="2363810" y="1766862"/>
                  </a:lnTo>
                  <a:lnTo>
                    <a:pt x="2379849" y="1743157"/>
                  </a:lnTo>
                  <a:lnTo>
                    <a:pt x="2385745" y="1714258"/>
                  </a:lnTo>
                  <a:lnTo>
                    <a:pt x="2385745" y="74536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1530" y="2944926"/>
              <a:ext cx="2385745" cy="178879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51530" y="2944926"/>
              <a:ext cx="2386330" cy="1788795"/>
            </a:xfrm>
            <a:custGeom>
              <a:avLst/>
              <a:gdLst/>
              <a:ahLst/>
              <a:cxnLst/>
              <a:rect l="l" t="t" r="r" b="b"/>
              <a:pathLst>
                <a:path w="2386329" h="1788795">
                  <a:moveTo>
                    <a:pt x="2385745" y="74536"/>
                  </a:moveTo>
                  <a:lnTo>
                    <a:pt x="2379849" y="45637"/>
                  </a:lnTo>
                  <a:lnTo>
                    <a:pt x="2363810" y="21932"/>
                  </a:lnTo>
                  <a:lnTo>
                    <a:pt x="2340104" y="5895"/>
                  </a:lnTo>
                  <a:lnTo>
                    <a:pt x="2311206" y="0"/>
                  </a:lnTo>
                  <a:lnTo>
                    <a:pt x="74536" y="0"/>
                  </a:lnTo>
                  <a:lnTo>
                    <a:pt x="45637" y="5895"/>
                  </a:lnTo>
                  <a:lnTo>
                    <a:pt x="21932" y="21932"/>
                  </a:lnTo>
                  <a:lnTo>
                    <a:pt x="5895" y="45637"/>
                  </a:lnTo>
                  <a:lnTo>
                    <a:pt x="0" y="74536"/>
                  </a:lnTo>
                  <a:lnTo>
                    <a:pt x="0" y="1714258"/>
                  </a:lnTo>
                  <a:lnTo>
                    <a:pt x="5895" y="1743157"/>
                  </a:lnTo>
                  <a:lnTo>
                    <a:pt x="21932" y="1766862"/>
                  </a:lnTo>
                  <a:lnTo>
                    <a:pt x="45637" y="1782899"/>
                  </a:lnTo>
                  <a:lnTo>
                    <a:pt x="74536" y="1788795"/>
                  </a:lnTo>
                  <a:lnTo>
                    <a:pt x="2311206" y="1788795"/>
                  </a:lnTo>
                  <a:lnTo>
                    <a:pt x="2340104" y="1782899"/>
                  </a:lnTo>
                  <a:lnTo>
                    <a:pt x="2363810" y="1766862"/>
                  </a:lnTo>
                  <a:lnTo>
                    <a:pt x="2379849" y="1743157"/>
                  </a:lnTo>
                  <a:lnTo>
                    <a:pt x="2385745" y="1714258"/>
                  </a:lnTo>
                  <a:lnTo>
                    <a:pt x="2385745" y="74536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271526" y="1523974"/>
            <a:ext cx="2464435" cy="1866900"/>
            <a:chOff x="271526" y="1523974"/>
            <a:chExt cx="2464435" cy="1866900"/>
          </a:xfrm>
        </p:grpSpPr>
        <p:sp>
          <p:nvSpPr>
            <p:cNvPr id="17" name="object 17"/>
            <p:cNvSpPr/>
            <p:nvPr/>
          </p:nvSpPr>
          <p:spPr>
            <a:xfrm>
              <a:off x="309626" y="1562074"/>
              <a:ext cx="2388235" cy="1790700"/>
            </a:xfrm>
            <a:custGeom>
              <a:avLst/>
              <a:gdLst/>
              <a:ahLst/>
              <a:cxnLst/>
              <a:rect l="l" t="t" r="r" b="b"/>
              <a:pathLst>
                <a:path w="2388235" h="1790700">
                  <a:moveTo>
                    <a:pt x="2387968" y="74612"/>
                  </a:moveTo>
                  <a:lnTo>
                    <a:pt x="2382066" y="45686"/>
                  </a:lnTo>
                  <a:lnTo>
                    <a:pt x="2366012" y="21956"/>
                  </a:lnTo>
                  <a:lnTo>
                    <a:pt x="2342284" y="5902"/>
                  </a:lnTo>
                  <a:lnTo>
                    <a:pt x="2313359" y="0"/>
                  </a:lnTo>
                  <a:lnTo>
                    <a:pt x="74599" y="0"/>
                  </a:lnTo>
                  <a:lnTo>
                    <a:pt x="45680" y="5902"/>
                  </a:lnTo>
                  <a:lnTo>
                    <a:pt x="21955" y="21956"/>
                  </a:lnTo>
                  <a:lnTo>
                    <a:pt x="5901" y="45686"/>
                  </a:lnTo>
                  <a:lnTo>
                    <a:pt x="0" y="74612"/>
                  </a:lnTo>
                  <a:lnTo>
                    <a:pt x="0" y="1715858"/>
                  </a:lnTo>
                  <a:lnTo>
                    <a:pt x="5901" y="1744783"/>
                  </a:lnTo>
                  <a:lnTo>
                    <a:pt x="21955" y="1768508"/>
                  </a:lnTo>
                  <a:lnTo>
                    <a:pt x="45680" y="1784558"/>
                  </a:lnTo>
                  <a:lnTo>
                    <a:pt x="74599" y="1790458"/>
                  </a:lnTo>
                  <a:lnTo>
                    <a:pt x="2313359" y="1790458"/>
                  </a:lnTo>
                  <a:lnTo>
                    <a:pt x="2342284" y="1784558"/>
                  </a:lnTo>
                  <a:lnTo>
                    <a:pt x="2366012" y="1768508"/>
                  </a:lnTo>
                  <a:lnTo>
                    <a:pt x="2382066" y="1744783"/>
                  </a:lnTo>
                  <a:lnTo>
                    <a:pt x="2387968" y="1715858"/>
                  </a:lnTo>
                  <a:lnTo>
                    <a:pt x="2387968" y="74612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626" y="1562074"/>
              <a:ext cx="2387968" cy="179045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09626" y="1562074"/>
              <a:ext cx="2388235" cy="1790700"/>
            </a:xfrm>
            <a:custGeom>
              <a:avLst/>
              <a:gdLst/>
              <a:ahLst/>
              <a:cxnLst/>
              <a:rect l="l" t="t" r="r" b="b"/>
              <a:pathLst>
                <a:path w="2388235" h="1790700">
                  <a:moveTo>
                    <a:pt x="2387968" y="74612"/>
                  </a:moveTo>
                  <a:lnTo>
                    <a:pt x="2382066" y="45686"/>
                  </a:lnTo>
                  <a:lnTo>
                    <a:pt x="2366012" y="21956"/>
                  </a:lnTo>
                  <a:lnTo>
                    <a:pt x="2342284" y="5902"/>
                  </a:lnTo>
                  <a:lnTo>
                    <a:pt x="2313359" y="0"/>
                  </a:lnTo>
                  <a:lnTo>
                    <a:pt x="74599" y="0"/>
                  </a:lnTo>
                  <a:lnTo>
                    <a:pt x="45680" y="5902"/>
                  </a:lnTo>
                  <a:lnTo>
                    <a:pt x="21955" y="21956"/>
                  </a:lnTo>
                  <a:lnTo>
                    <a:pt x="5901" y="45686"/>
                  </a:lnTo>
                  <a:lnTo>
                    <a:pt x="0" y="74612"/>
                  </a:lnTo>
                  <a:lnTo>
                    <a:pt x="0" y="1715858"/>
                  </a:lnTo>
                  <a:lnTo>
                    <a:pt x="5901" y="1744783"/>
                  </a:lnTo>
                  <a:lnTo>
                    <a:pt x="21955" y="1768508"/>
                  </a:lnTo>
                  <a:lnTo>
                    <a:pt x="45680" y="1784558"/>
                  </a:lnTo>
                  <a:lnTo>
                    <a:pt x="74599" y="1790458"/>
                  </a:lnTo>
                  <a:lnTo>
                    <a:pt x="2313359" y="1790458"/>
                  </a:lnTo>
                  <a:lnTo>
                    <a:pt x="2342284" y="1784558"/>
                  </a:lnTo>
                  <a:lnTo>
                    <a:pt x="2366012" y="1768508"/>
                  </a:lnTo>
                  <a:lnTo>
                    <a:pt x="2382066" y="1744783"/>
                  </a:lnTo>
                  <a:lnTo>
                    <a:pt x="2387968" y="1715858"/>
                  </a:lnTo>
                  <a:lnTo>
                    <a:pt x="2387968" y="74612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776334" y="2188293"/>
            <a:ext cx="163830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00" b="1" i="1">
                <a:latin typeface="Arial"/>
                <a:cs typeface="Arial"/>
              </a:rPr>
              <a:t>FRONT</a:t>
            </a:r>
            <a:r>
              <a:rPr dirty="0" sz="1850" spc="85" b="1" i="1">
                <a:latin typeface="Arial"/>
                <a:cs typeface="Arial"/>
              </a:rPr>
              <a:t> </a:t>
            </a:r>
            <a:r>
              <a:rPr dirty="0" sz="1850" spc="90" b="1" i="1">
                <a:latin typeface="Arial"/>
                <a:cs typeface="Arial"/>
              </a:rPr>
              <a:t>VIEW</a:t>
            </a:r>
            <a:endParaRPr sz="18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18983" y="3727431"/>
            <a:ext cx="135890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90" b="1" i="1">
                <a:latin typeface="Arial"/>
                <a:cs typeface="Arial"/>
              </a:rPr>
              <a:t>SIDE</a:t>
            </a:r>
            <a:r>
              <a:rPr dirty="0" sz="1850" spc="85" b="1" i="1">
                <a:latin typeface="Arial"/>
                <a:cs typeface="Arial"/>
              </a:rPr>
              <a:t> </a:t>
            </a:r>
            <a:r>
              <a:rPr dirty="0" sz="1850" spc="90" b="1" i="1">
                <a:latin typeface="Arial"/>
                <a:cs typeface="Arial"/>
              </a:rPr>
              <a:t>VIEW</a:t>
            </a:r>
            <a:endParaRPr sz="1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60979" y="5344484"/>
            <a:ext cx="144145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50" b="1" i="1">
                <a:latin typeface="Arial"/>
                <a:cs typeface="Arial"/>
              </a:rPr>
              <a:t>REAR</a:t>
            </a:r>
            <a:r>
              <a:rPr dirty="0" sz="1850" spc="-60" b="1" i="1">
                <a:latin typeface="Arial"/>
                <a:cs typeface="Arial"/>
              </a:rPr>
              <a:t> </a:t>
            </a:r>
            <a:r>
              <a:rPr dirty="0" sz="1850" spc="90" b="1" i="1">
                <a:latin typeface="Arial"/>
                <a:cs typeface="Arial"/>
              </a:rPr>
              <a:t>VIEW</a:t>
            </a:r>
            <a:endParaRPr sz="1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70396" y="5141716"/>
            <a:ext cx="4723765" cy="85788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229"/>
              </a:spcBef>
            </a:pPr>
            <a:r>
              <a:rPr dirty="0" sz="1850" spc="90" b="1" i="1">
                <a:latin typeface="Arial"/>
                <a:cs typeface="Arial"/>
              </a:rPr>
              <a:t>SMS </a:t>
            </a:r>
            <a:r>
              <a:rPr dirty="0" sz="1850" spc="75" b="1" i="1">
                <a:latin typeface="Arial"/>
                <a:cs typeface="Arial"/>
              </a:rPr>
              <a:t>ALERT</a:t>
            </a:r>
            <a:r>
              <a:rPr dirty="0" sz="1850" spc="90" b="1" i="1">
                <a:latin typeface="Arial"/>
                <a:cs typeface="Arial"/>
              </a:rPr>
              <a:t> </a:t>
            </a:r>
            <a:r>
              <a:rPr dirty="0" sz="1850" spc="114" b="1" i="1">
                <a:latin typeface="Arial"/>
                <a:cs typeface="Arial"/>
              </a:rPr>
              <a:t>TO</a:t>
            </a:r>
            <a:r>
              <a:rPr dirty="0" sz="1850" spc="90" b="1" i="1">
                <a:latin typeface="Arial"/>
                <a:cs typeface="Arial"/>
              </a:rPr>
              <a:t> </a:t>
            </a:r>
            <a:r>
              <a:rPr dirty="0" sz="1850" spc="120" b="1" i="1">
                <a:latin typeface="Arial"/>
                <a:cs typeface="Arial"/>
              </a:rPr>
              <a:t>THE</a:t>
            </a:r>
            <a:r>
              <a:rPr dirty="0" sz="1850" spc="90" b="1" i="1">
                <a:latin typeface="Arial"/>
                <a:cs typeface="Arial"/>
              </a:rPr>
              <a:t> </a:t>
            </a:r>
            <a:r>
              <a:rPr dirty="0" sz="1850" spc="75" b="1" i="1">
                <a:latin typeface="Arial"/>
                <a:cs typeface="Arial"/>
              </a:rPr>
              <a:t>EMERGENCY </a:t>
            </a:r>
            <a:r>
              <a:rPr dirty="0" sz="1850" spc="95" b="1" i="1">
                <a:latin typeface="Arial"/>
                <a:cs typeface="Arial"/>
              </a:rPr>
              <a:t>CONTACT</a:t>
            </a:r>
            <a:r>
              <a:rPr dirty="0" sz="1850" spc="100" b="1" i="1">
                <a:latin typeface="Arial"/>
                <a:cs typeface="Arial"/>
              </a:rPr>
              <a:t> </a:t>
            </a:r>
            <a:r>
              <a:rPr dirty="0" sz="1850" spc="250" b="1" i="1">
                <a:latin typeface="Arial"/>
                <a:cs typeface="Arial"/>
              </a:rPr>
              <a:t>&amp;</a:t>
            </a:r>
            <a:r>
              <a:rPr dirty="0" sz="1850" spc="100" b="1" i="1">
                <a:latin typeface="Arial"/>
                <a:cs typeface="Arial"/>
              </a:rPr>
              <a:t> </a:t>
            </a:r>
            <a:r>
              <a:rPr dirty="0" sz="1850" spc="105" b="1" i="1">
                <a:latin typeface="Arial"/>
                <a:cs typeface="Arial"/>
              </a:rPr>
              <a:t>VERFICATION</a:t>
            </a:r>
            <a:r>
              <a:rPr dirty="0" sz="1850" spc="100" b="1" i="1">
                <a:latin typeface="Arial"/>
                <a:cs typeface="Arial"/>
              </a:rPr>
              <a:t> </a:t>
            </a:r>
            <a:r>
              <a:rPr dirty="0" sz="1850" spc="75" b="1" i="1">
                <a:latin typeface="Arial"/>
                <a:cs typeface="Arial"/>
              </a:rPr>
              <a:t>ALERT</a:t>
            </a:r>
            <a:r>
              <a:rPr dirty="0" sz="1850" spc="105" b="1" i="1">
                <a:latin typeface="Arial"/>
                <a:cs typeface="Arial"/>
              </a:rPr>
              <a:t> </a:t>
            </a:r>
            <a:r>
              <a:rPr dirty="0" sz="1850" spc="90" b="1" i="1">
                <a:latin typeface="Arial"/>
                <a:cs typeface="Arial"/>
              </a:rPr>
              <a:t>TO </a:t>
            </a:r>
            <a:r>
              <a:rPr dirty="0" sz="1850" spc="120" b="1" i="1">
                <a:latin typeface="Arial"/>
                <a:cs typeface="Arial"/>
              </a:rPr>
              <a:t>THE</a:t>
            </a:r>
            <a:r>
              <a:rPr dirty="0" sz="1850" spc="85" b="1" i="1">
                <a:latin typeface="Arial"/>
                <a:cs typeface="Arial"/>
              </a:rPr>
              <a:t> </a:t>
            </a:r>
            <a:r>
              <a:rPr dirty="0" sz="1850" spc="50" b="1" i="1">
                <a:latin typeface="Arial"/>
                <a:cs typeface="Arial"/>
              </a:rPr>
              <a:t>USER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45660" y="4325912"/>
            <a:ext cx="2921000" cy="1887855"/>
            <a:chOff x="4645660" y="4325912"/>
            <a:chExt cx="2921000" cy="1887855"/>
          </a:xfrm>
        </p:grpSpPr>
        <p:sp>
          <p:nvSpPr>
            <p:cNvPr id="3" name="object 3"/>
            <p:cNvSpPr/>
            <p:nvPr/>
          </p:nvSpPr>
          <p:spPr>
            <a:xfrm>
              <a:off x="4683760" y="4364012"/>
              <a:ext cx="2844800" cy="1811655"/>
            </a:xfrm>
            <a:custGeom>
              <a:avLst/>
              <a:gdLst/>
              <a:ahLst/>
              <a:cxnLst/>
              <a:rect l="l" t="t" r="r" b="b"/>
              <a:pathLst>
                <a:path w="2844800" h="1811654">
                  <a:moveTo>
                    <a:pt x="0" y="75488"/>
                  </a:moveTo>
                  <a:lnTo>
                    <a:pt x="5971" y="46221"/>
                  </a:lnTo>
                  <a:lnTo>
                    <a:pt x="22213" y="22213"/>
                  </a:lnTo>
                  <a:lnTo>
                    <a:pt x="46220" y="5971"/>
                  </a:lnTo>
                  <a:lnTo>
                    <a:pt x="75485" y="0"/>
                  </a:lnTo>
                  <a:lnTo>
                    <a:pt x="2769311" y="0"/>
                  </a:lnTo>
                  <a:lnTo>
                    <a:pt x="2798578" y="5971"/>
                  </a:lnTo>
                  <a:lnTo>
                    <a:pt x="2822586" y="22213"/>
                  </a:lnTo>
                  <a:lnTo>
                    <a:pt x="2838828" y="46221"/>
                  </a:lnTo>
                  <a:lnTo>
                    <a:pt x="2844800" y="75488"/>
                  </a:lnTo>
                  <a:lnTo>
                    <a:pt x="2844800" y="1736013"/>
                  </a:lnTo>
                  <a:lnTo>
                    <a:pt x="2838828" y="1765280"/>
                  </a:lnTo>
                  <a:lnTo>
                    <a:pt x="2822586" y="1789288"/>
                  </a:lnTo>
                  <a:lnTo>
                    <a:pt x="2798578" y="1805531"/>
                  </a:lnTo>
                  <a:lnTo>
                    <a:pt x="2769311" y="1811502"/>
                  </a:lnTo>
                  <a:lnTo>
                    <a:pt x="75485" y="1811502"/>
                  </a:lnTo>
                  <a:lnTo>
                    <a:pt x="46220" y="1805531"/>
                  </a:lnTo>
                  <a:lnTo>
                    <a:pt x="22213" y="1789288"/>
                  </a:lnTo>
                  <a:lnTo>
                    <a:pt x="5971" y="1765280"/>
                  </a:lnTo>
                  <a:lnTo>
                    <a:pt x="0" y="1736013"/>
                  </a:lnTo>
                  <a:lnTo>
                    <a:pt x="0" y="75488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3760" y="4364012"/>
              <a:ext cx="2844799" cy="18115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83760" y="4364012"/>
              <a:ext cx="2844800" cy="1811655"/>
            </a:xfrm>
            <a:custGeom>
              <a:avLst/>
              <a:gdLst/>
              <a:ahLst/>
              <a:cxnLst/>
              <a:rect l="l" t="t" r="r" b="b"/>
              <a:pathLst>
                <a:path w="2844800" h="1811654">
                  <a:moveTo>
                    <a:pt x="0" y="75488"/>
                  </a:moveTo>
                  <a:lnTo>
                    <a:pt x="5971" y="46221"/>
                  </a:lnTo>
                  <a:lnTo>
                    <a:pt x="22213" y="22213"/>
                  </a:lnTo>
                  <a:lnTo>
                    <a:pt x="46220" y="5971"/>
                  </a:lnTo>
                  <a:lnTo>
                    <a:pt x="75485" y="0"/>
                  </a:lnTo>
                  <a:lnTo>
                    <a:pt x="2769311" y="0"/>
                  </a:lnTo>
                  <a:lnTo>
                    <a:pt x="2798578" y="5971"/>
                  </a:lnTo>
                  <a:lnTo>
                    <a:pt x="2822586" y="22213"/>
                  </a:lnTo>
                  <a:lnTo>
                    <a:pt x="2838828" y="46221"/>
                  </a:lnTo>
                  <a:lnTo>
                    <a:pt x="2844800" y="75488"/>
                  </a:lnTo>
                  <a:lnTo>
                    <a:pt x="2844800" y="1736013"/>
                  </a:lnTo>
                  <a:lnTo>
                    <a:pt x="2838828" y="1765280"/>
                  </a:lnTo>
                  <a:lnTo>
                    <a:pt x="2822586" y="1789288"/>
                  </a:lnTo>
                  <a:lnTo>
                    <a:pt x="2798578" y="1805531"/>
                  </a:lnTo>
                  <a:lnTo>
                    <a:pt x="2769311" y="1811502"/>
                  </a:lnTo>
                  <a:lnTo>
                    <a:pt x="75485" y="1811502"/>
                  </a:lnTo>
                  <a:lnTo>
                    <a:pt x="46220" y="1805531"/>
                  </a:lnTo>
                  <a:lnTo>
                    <a:pt x="22213" y="1789288"/>
                  </a:lnTo>
                  <a:lnTo>
                    <a:pt x="5971" y="1765280"/>
                  </a:lnTo>
                  <a:lnTo>
                    <a:pt x="0" y="1736013"/>
                  </a:lnTo>
                  <a:lnTo>
                    <a:pt x="0" y="75488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276860" y="1069341"/>
            <a:ext cx="4238625" cy="2779395"/>
            <a:chOff x="276860" y="1069341"/>
            <a:chExt cx="4238625" cy="2779395"/>
          </a:xfrm>
        </p:grpSpPr>
        <p:sp>
          <p:nvSpPr>
            <p:cNvPr id="7" name="object 7"/>
            <p:cNvSpPr/>
            <p:nvPr/>
          </p:nvSpPr>
          <p:spPr>
            <a:xfrm>
              <a:off x="314960" y="1107441"/>
              <a:ext cx="4162425" cy="2703195"/>
            </a:xfrm>
            <a:custGeom>
              <a:avLst/>
              <a:gdLst/>
              <a:ahLst/>
              <a:cxnLst/>
              <a:rect l="l" t="t" r="r" b="b"/>
              <a:pathLst>
                <a:path w="4162425" h="2703195">
                  <a:moveTo>
                    <a:pt x="0" y="112623"/>
                  </a:moveTo>
                  <a:lnTo>
                    <a:pt x="8908" y="68960"/>
                  </a:lnTo>
                  <a:lnTo>
                    <a:pt x="33141" y="33142"/>
                  </a:lnTo>
                  <a:lnTo>
                    <a:pt x="68959" y="8908"/>
                  </a:lnTo>
                  <a:lnTo>
                    <a:pt x="112619" y="0"/>
                  </a:lnTo>
                  <a:lnTo>
                    <a:pt x="4049458" y="0"/>
                  </a:lnTo>
                  <a:lnTo>
                    <a:pt x="4093121" y="8908"/>
                  </a:lnTo>
                  <a:lnTo>
                    <a:pt x="4128939" y="33142"/>
                  </a:lnTo>
                  <a:lnTo>
                    <a:pt x="4153173" y="68960"/>
                  </a:lnTo>
                  <a:lnTo>
                    <a:pt x="4162082" y="112623"/>
                  </a:lnTo>
                  <a:lnTo>
                    <a:pt x="4162082" y="2590038"/>
                  </a:lnTo>
                  <a:lnTo>
                    <a:pt x="4153173" y="2633701"/>
                  </a:lnTo>
                  <a:lnTo>
                    <a:pt x="4128939" y="2669519"/>
                  </a:lnTo>
                  <a:lnTo>
                    <a:pt x="4093121" y="2693752"/>
                  </a:lnTo>
                  <a:lnTo>
                    <a:pt x="4049458" y="2702661"/>
                  </a:lnTo>
                  <a:lnTo>
                    <a:pt x="112619" y="2702661"/>
                  </a:lnTo>
                  <a:lnTo>
                    <a:pt x="68959" y="2693752"/>
                  </a:lnTo>
                  <a:lnTo>
                    <a:pt x="33141" y="2669519"/>
                  </a:lnTo>
                  <a:lnTo>
                    <a:pt x="8908" y="2633701"/>
                  </a:lnTo>
                  <a:lnTo>
                    <a:pt x="0" y="2590038"/>
                  </a:lnTo>
                  <a:lnTo>
                    <a:pt x="0" y="112623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960" y="1107441"/>
              <a:ext cx="4162082" cy="270266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4960" y="1107441"/>
              <a:ext cx="4162425" cy="2703195"/>
            </a:xfrm>
            <a:custGeom>
              <a:avLst/>
              <a:gdLst/>
              <a:ahLst/>
              <a:cxnLst/>
              <a:rect l="l" t="t" r="r" b="b"/>
              <a:pathLst>
                <a:path w="4162425" h="2703195">
                  <a:moveTo>
                    <a:pt x="0" y="112623"/>
                  </a:moveTo>
                  <a:lnTo>
                    <a:pt x="8908" y="68960"/>
                  </a:lnTo>
                  <a:lnTo>
                    <a:pt x="33141" y="33142"/>
                  </a:lnTo>
                  <a:lnTo>
                    <a:pt x="68959" y="8908"/>
                  </a:lnTo>
                  <a:lnTo>
                    <a:pt x="112619" y="0"/>
                  </a:lnTo>
                  <a:lnTo>
                    <a:pt x="4049458" y="0"/>
                  </a:lnTo>
                  <a:lnTo>
                    <a:pt x="4093121" y="8908"/>
                  </a:lnTo>
                  <a:lnTo>
                    <a:pt x="4128939" y="33142"/>
                  </a:lnTo>
                  <a:lnTo>
                    <a:pt x="4153173" y="68960"/>
                  </a:lnTo>
                  <a:lnTo>
                    <a:pt x="4162082" y="112623"/>
                  </a:lnTo>
                  <a:lnTo>
                    <a:pt x="4162082" y="2590038"/>
                  </a:lnTo>
                  <a:lnTo>
                    <a:pt x="4153173" y="2633701"/>
                  </a:lnTo>
                  <a:lnTo>
                    <a:pt x="4128939" y="2669519"/>
                  </a:lnTo>
                  <a:lnTo>
                    <a:pt x="4093121" y="2693752"/>
                  </a:lnTo>
                  <a:lnTo>
                    <a:pt x="4049458" y="2702661"/>
                  </a:lnTo>
                  <a:lnTo>
                    <a:pt x="112619" y="2702661"/>
                  </a:lnTo>
                  <a:lnTo>
                    <a:pt x="68959" y="2693752"/>
                  </a:lnTo>
                  <a:lnTo>
                    <a:pt x="33141" y="2669519"/>
                  </a:lnTo>
                  <a:lnTo>
                    <a:pt x="8908" y="2633701"/>
                  </a:lnTo>
                  <a:lnTo>
                    <a:pt x="0" y="2590038"/>
                  </a:lnTo>
                  <a:lnTo>
                    <a:pt x="0" y="112623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7707338" y="1069341"/>
            <a:ext cx="4100829" cy="2779395"/>
            <a:chOff x="7707338" y="1069341"/>
            <a:chExt cx="4100829" cy="2779395"/>
          </a:xfrm>
        </p:grpSpPr>
        <p:sp>
          <p:nvSpPr>
            <p:cNvPr id="11" name="object 11"/>
            <p:cNvSpPr/>
            <p:nvPr/>
          </p:nvSpPr>
          <p:spPr>
            <a:xfrm>
              <a:off x="7745437" y="1107441"/>
              <a:ext cx="4024629" cy="2703195"/>
            </a:xfrm>
            <a:custGeom>
              <a:avLst/>
              <a:gdLst/>
              <a:ahLst/>
              <a:cxnLst/>
              <a:rect l="l" t="t" r="r" b="b"/>
              <a:pathLst>
                <a:path w="4024629" h="2703195">
                  <a:moveTo>
                    <a:pt x="0" y="112623"/>
                  </a:moveTo>
                  <a:lnTo>
                    <a:pt x="8908" y="68960"/>
                  </a:lnTo>
                  <a:lnTo>
                    <a:pt x="33141" y="33142"/>
                  </a:lnTo>
                  <a:lnTo>
                    <a:pt x="68959" y="8908"/>
                  </a:lnTo>
                  <a:lnTo>
                    <a:pt x="112619" y="0"/>
                  </a:lnTo>
                  <a:lnTo>
                    <a:pt x="3911676" y="0"/>
                  </a:lnTo>
                  <a:lnTo>
                    <a:pt x="3955339" y="8908"/>
                  </a:lnTo>
                  <a:lnTo>
                    <a:pt x="3991157" y="33142"/>
                  </a:lnTo>
                  <a:lnTo>
                    <a:pt x="4015390" y="68960"/>
                  </a:lnTo>
                  <a:lnTo>
                    <a:pt x="4024299" y="112623"/>
                  </a:lnTo>
                  <a:lnTo>
                    <a:pt x="4024299" y="2590038"/>
                  </a:lnTo>
                  <a:lnTo>
                    <a:pt x="4015390" y="2633701"/>
                  </a:lnTo>
                  <a:lnTo>
                    <a:pt x="3991157" y="2669519"/>
                  </a:lnTo>
                  <a:lnTo>
                    <a:pt x="3955339" y="2693752"/>
                  </a:lnTo>
                  <a:lnTo>
                    <a:pt x="3911676" y="2702661"/>
                  </a:lnTo>
                  <a:lnTo>
                    <a:pt x="112619" y="2702661"/>
                  </a:lnTo>
                  <a:lnTo>
                    <a:pt x="68959" y="2693752"/>
                  </a:lnTo>
                  <a:lnTo>
                    <a:pt x="33141" y="2669519"/>
                  </a:lnTo>
                  <a:lnTo>
                    <a:pt x="8908" y="2633701"/>
                  </a:lnTo>
                  <a:lnTo>
                    <a:pt x="0" y="2590038"/>
                  </a:lnTo>
                  <a:lnTo>
                    <a:pt x="0" y="112623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45437" y="1107441"/>
              <a:ext cx="4024299" cy="270266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45437" y="1107441"/>
              <a:ext cx="4024629" cy="2703195"/>
            </a:xfrm>
            <a:custGeom>
              <a:avLst/>
              <a:gdLst/>
              <a:ahLst/>
              <a:cxnLst/>
              <a:rect l="l" t="t" r="r" b="b"/>
              <a:pathLst>
                <a:path w="4024629" h="2703195">
                  <a:moveTo>
                    <a:pt x="0" y="112623"/>
                  </a:moveTo>
                  <a:lnTo>
                    <a:pt x="8908" y="68960"/>
                  </a:lnTo>
                  <a:lnTo>
                    <a:pt x="33141" y="33142"/>
                  </a:lnTo>
                  <a:lnTo>
                    <a:pt x="68959" y="8908"/>
                  </a:lnTo>
                  <a:lnTo>
                    <a:pt x="112619" y="0"/>
                  </a:lnTo>
                  <a:lnTo>
                    <a:pt x="3911676" y="0"/>
                  </a:lnTo>
                  <a:lnTo>
                    <a:pt x="3955339" y="8908"/>
                  </a:lnTo>
                  <a:lnTo>
                    <a:pt x="3991157" y="33142"/>
                  </a:lnTo>
                  <a:lnTo>
                    <a:pt x="4015390" y="68960"/>
                  </a:lnTo>
                  <a:lnTo>
                    <a:pt x="4024299" y="112623"/>
                  </a:lnTo>
                  <a:lnTo>
                    <a:pt x="4024299" y="2590038"/>
                  </a:lnTo>
                  <a:lnTo>
                    <a:pt x="4015390" y="2633701"/>
                  </a:lnTo>
                  <a:lnTo>
                    <a:pt x="3991157" y="2669519"/>
                  </a:lnTo>
                  <a:lnTo>
                    <a:pt x="3955339" y="2693752"/>
                  </a:lnTo>
                  <a:lnTo>
                    <a:pt x="3911676" y="2702661"/>
                  </a:lnTo>
                  <a:lnTo>
                    <a:pt x="112619" y="2702661"/>
                  </a:lnTo>
                  <a:lnTo>
                    <a:pt x="68959" y="2693752"/>
                  </a:lnTo>
                  <a:lnTo>
                    <a:pt x="33141" y="2669519"/>
                  </a:lnTo>
                  <a:lnTo>
                    <a:pt x="8908" y="2633701"/>
                  </a:lnTo>
                  <a:lnTo>
                    <a:pt x="0" y="2590038"/>
                  </a:lnTo>
                  <a:lnTo>
                    <a:pt x="0" y="112623"/>
                  </a:lnTo>
                  <a:close/>
                </a:path>
              </a:pathLst>
            </a:custGeom>
            <a:ln w="76199">
              <a:solidFill>
                <a:srgbClr val="2929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67639" y="216656"/>
            <a:ext cx="595185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SYSTEM</a:t>
            </a:r>
            <a:r>
              <a:rPr dirty="0" sz="4400" spc="-85"/>
              <a:t> </a:t>
            </a:r>
            <a:r>
              <a:rPr dirty="0" sz="4400"/>
              <a:t>INNER</a:t>
            </a:r>
            <a:r>
              <a:rPr dirty="0" sz="4400" spc="-85"/>
              <a:t> </a:t>
            </a:r>
            <a:r>
              <a:rPr dirty="0" sz="4400" spc="-20"/>
              <a:t>VIEW</a:t>
            </a:r>
            <a:endParaRPr sz="4400"/>
          </a:p>
        </p:txBody>
      </p:sp>
      <p:sp>
        <p:nvSpPr>
          <p:cNvPr id="15" name="object 15"/>
          <p:cNvSpPr txBox="1"/>
          <p:nvPr/>
        </p:nvSpPr>
        <p:spPr>
          <a:xfrm>
            <a:off x="4000500" y="6317792"/>
            <a:ext cx="4177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HALL</a:t>
            </a:r>
            <a:r>
              <a:rPr dirty="0" sz="1800" spc="-15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SENSOR</a:t>
            </a:r>
            <a:r>
              <a:rPr dirty="0" sz="1800" spc="-15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–</a:t>
            </a:r>
            <a:r>
              <a:rPr dirty="0" sz="1800" spc="-15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BUCKLE</a:t>
            </a:r>
            <a:r>
              <a:rPr dirty="0" sz="1800" spc="-15" b="1" i="1">
                <a:latin typeface="Times New Roman"/>
                <a:cs typeface="Times New Roman"/>
              </a:rPr>
              <a:t> </a:t>
            </a:r>
            <a:r>
              <a:rPr dirty="0" sz="1800" spc="-10" b="1" i="1">
                <a:latin typeface="Times New Roman"/>
                <a:cs typeface="Times New Roman"/>
              </a:rPr>
              <a:t>ACTIVATION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220" y="4106671"/>
            <a:ext cx="39427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BATTERY</a:t>
            </a:r>
            <a:r>
              <a:rPr dirty="0" sz="1800" spc="-35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MANAGEMENT</a:t>
            </a:r>
            <a:r>
              <a:rPr dirty="0" sz="1800" spc="-30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SYSTEM</a:t>
            </a:r>
            <a:r>
              <a:rPr dirty="0" sz="1800" spc="-30" b="1" i="1">
                <a:latin typeface="Times New Roman"/>
                <a:cs typeface="Times New Roman"/>
              </a:rPr>
              <a:t> </a:t>
            </a:r>
            <a:r>
              <a:rPr dirty="0" sz="1800" spc="-50" b="1" i="1">
                <a:latin typeface="Times New Roman"/>
                <a:cs typeface="Times New Roman"/>
              </a:rPr>
              <a:t>&amp; </a:t>
            </a:r>
            <a:r>
              <a:rPr dirty="0" sz="1800" b="1" i="1">
                <a:latin typeface="Times New Roman"/>
                <a:cs typeface="Times New Roman"/>
              </a:rPr>
              <a:t>POWER</a:t>
            </a:r>
            <a:r>
              <a:rPr dirty="0" sz="1800" spc="-25" b="1" i="1">
                <a:latin typeface="Times New Roman"/>
                <a:cs typeface="Times New Roman"/>
              </a:rPr>
              <a:t> </a:t>
            </a:r>
            <a:r>
              <a:rPr dirty="0" sz="1800" spc="-10" b="1" i="1">
                <a:latin typeface="Times New Roman"/>
                <a:cs typeface="Times New Roman"/>
              </a:rPr>
              <a:t>SUPPLY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68919" y="4106684"/>
            <a:ext cx="361822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MICROCONTROLLER</a:t>
            </a:r>
            <a:r>
              <a:rPr dirty="0" sz="1800" spc="-55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&amp;</a:t>
            </a:r>
            <a:r>
              <a:rPr dirty="0" sz="1800" spc="-50" b="1" i="1">
                <a:latin typeface="Times New Roman"/>
                <a:cs typeface="Times New Roman"/>
              </a:rPr>
              <a:t> </a:t>
            </a:r>
            <a:r>
              <a:rPr dirty="0" sz="1800" spc="-10" b="1" i="1">
                <a:latin typeface="Times New Roman"/>
                <a:cs typeface="Times New Roman"/>
              </a:rPr>
              <a:t>SENSORS </a:t>
            </a:r>
            <a:r>
              <a:rPr dirty="0" sz="1800" b="1" i="1">
                <a:latin typeface="Times New Roman"/>
                <a:cs typeface="Times New Roman"/>
              </a:rPr>
              <a:t>INSIDE</a:t>
            </a:r>
            <a:r>
              <a:rPr dirty="0" sz="1800" spc="-30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HELMET</a:t>
            </a:r>
            <a:r>
              <a:rPr dirty="0" sz="1800" spc="-25" b="1" i="1">
                <a:latin typeface="Times New Roman"/>
                <a:cs typeface="Times New Roman"/>
              </a:rPr>
              <a:t> </a:t>
            </a:r>
            <a:r>
              <a:rPr dirty="0" sz="1800" spc="-20" b="1" i="1">
                <a:latin typeface="Times New Roman"/>
                <a:cs typeface="Times New Roman"/>
              </a:rPr>
              <a:t>VIEW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18643"/>
            <a:ext cx="64795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PROJECT</a:t>
            </a:r>
            <a:r>
              <a:rPr dirty="0" sz="4400" spc="-130"/>
              <a:t> </a:t>
            </a:r>
            <a:r>
              <a:rPr dirty="0" sz="4400"/>
              <a:t>DEMO</a:t>
            </a:r>
            <a:r>
              <a:rPr dirty="0" sz="4400" spc="-110"/>
              <a:t> </a:t>
            </a:r>
            <a:r>
              <a:rPr dirty="0" sz="4400" spc="-10"/>
              <a:t>VIDEO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85356" y="705051"/>
            <a:ext cx="11821795" cy="5920105"/>
            <a:chOff x="185356" y="705051"/>
            <a:chExt cx="11821795" cy="5920105"/>
          </a:xfrm>
        </p:grpSpPr>
        <p:sp>
          <p:nvSpPr>
            <p:cNvPr id="4" name="object 4"/>
            <p:cNvSpPr/>
            <p:nvPr/>
          </p:nvSpPr>
          <p:spPr>
            <a:xfrm>
              <a:off x="185356" y="705051"/>
              <a:ext cx="11821795" cy="5920105"/>
            </a:xfrm>
            <a:custGeom>
              <a:avLst/>
              <a:gdLst/>
              <a:ahLst/>
              <a:cxnLst/>
              <a:rect l="l" t="t" r="r" b="b"/>
              <a:pathLst>
                <a:path w="11821795" h="5920105">
                  <a:moveTo>
                    <a:pt x="10834624" y="0"/>
                  </a:moveTo>
                  <a:lnTo>
                    <a:pt x="986663" y="0"/>
                  </a:lnTo>
                  <a:lnTo>
                    <a:pt x="939161" y="1146"/>
                  </a:lnTo>
                  <a:lnTo>
                    <a:pt x="892211" y="4552"/>
                  </a:lnTo>
                  <a:lnTo>
                    <a:pt x="845865" y="10162"/>
                  </a:lnTo>
                  <a:lnTo>
                    <a:pt x="800177" y="17925"/>
                  </a:lnTo>
                  <a:lnTo>
                    <a:pt x="755200" y="27785"/>
                  </a:lnTo>
                  <a:lnTo>
                    <a:pt x="710987" y="39690"/>
                  </a:lnTo>
                  <a:lnTo>
                    <a:pt x="667592" y="53588"/>
                  </a:lnTo>
                  <a:lnTo>
                    <a:pt x="625068" y="69423"/>
                  </a:lnTo>
                  <a:lnTo>
                    <a:pt x="583468" y="87143"/>
                  </a:lnTo>
                  <a:lnTo>
                    <a:pt x="542847" y="106695"/>
                  </a:lnTo>
                  <a:lnTo>
                    <a:pt x="503256" y="128025"/>
                  </a:lnTo>
                  <a:lnTo>
                    <a:pt x="464750" y="151080"/>
                  </a:lnTo>
                  <a:lnTo>
                    <a:pt x="427382" y="175806"/>
                  </a:lnTo>
                  <a:lnTo>
                    <a:pt x="391205" y="202150"/>
                  </a:lnTo>
                  <a:lnTo>
                    <a:pt x="356273" y="230059"/>
                  </a:lnTo>
                  <a:lnTo>
                    <a:pt x="322639" y="259480"/>
                  </a:lnTo>
                  <a:lnTo>
                    <a:pt x="290356" y="290358"/>
                  </a:lnTo>
                  <a:lnTo>
                    <a:pt x="259477" y="322641"/>
                  </a:lnTo>
                  <a:lnTo>
                    <a:pt x="230057" y="356276"/>
                  </a:lnTo>
                  <a:lnTo>
                    <a:pt x="202148" y="391208"/>
                  </a:lnTo>
                  <a:lnTo>
                    <a:pt x="175804" y="427385"/>
                  </a:lnTo>
                  <a:lnTo>
                    <a:pt x="151078" y="464753"/>
                  </a:lnTo>
                  <a:lnTo>
                    <a:pt x="128023" y="503259"/>
                  </a:lnTo>
                  <a:lnTo>
                    <a:pt x="106694" y="542849"/>
                  </a:lnTo>
                  <a:lnTo>
                    <a:pt x="87142" y="583471"/>
                  </a:lnTo>
                  <a:lnTo>
                    <a:pt x="69422" y="625070"/>
                  </a:lnTo>
                  <a:lnTo>
                    <a:pt x="53587" y="667594"/>
                  </a:lnTo>
                  <a:lnTo>
                    <a:pt x="39690" y="710989"/>
                  </a:lnTo>
                  <a:lnTo>
                    <a:pt x="27785" y="755202"/>
                  </a:lnTo>
                  <a:lnTo>
                    <a:pt x="17924" y="800179"/>
                  </a:lnTo>
                  <a:lnTo>
                    <a:pt x="10162" y="845867"/>
                  </a:lnTo>
                  <a:lnTo>
                    <a:pt x="4552" y="892212"/>
                  </a:lnTo>
                  <a:lnTo>
                    <a:pt x="1146" y="939162"/>
                  </a:lnTo>
                  <a:lnTo>
                    <a:pt x="0" y="986663"/>
                  </a:lnTo>
                  <a:lnTo>
                    <a:pt x="0" y="4933315"/>
                  </a:lnTo>
                  <a:lnTo>
                    <a:pt x="1146" y="4980815"/>
                  </a:lnTo>
                  <a:lnTo>
                    <a:pt x="4552" y="5027765"/>
                  </a:lnTo>
                  <a:lnTo>
                    <a:pt x="10162" y="5074110"/>
                  </a:lnTo>
                  <a:lnTo>
                    <a:pt x="17924" y="5119798"/>
                  </a:lnTo>
                  <a:lnTo>
                    <a:pt x="27785" y="5164775"/>
                  </a:lnTo>
                  <a:lnTo>
                    <a:pt x="39690" y="5208988"/>
                  </a:lnTo>
                  <a:lnTo>
                    <a:pt x="53587" y="5252383"/>
                  </a:lnTo>
                  <a:lnTo>
                    <a:pt x="69422" y="5294906"/>
                  </a:lnTo>
                  <a:lnTo>
                    <a:pt x="87142" y="5336506"/>
                  </a:lnTo>
                  <a:lnTo>
                    <a:pt x="106694" y="5377127"/>
                  </a:lnTo>
                  <a:lnTo>
                    <a:pt x="128023" y="5416718"/>
                  </a:lnTo>
                  <a:lnTo>
                    <a:pt x="151078" y="5455224"/>
                  </a:lnTo>
                  <a:lnTo>
                    <a:pt x="175804" y="5492592"/>
                  </a:lnTo>
                  <a:lnTo>
                    <a:pt x="202148" y="5528769"/>
                  </a:lnTo>
                  <a:lnTo>
                    <a:pt x="230057" y="5563701"/>
                  </a:lnTo>
                  <a:lnTo>
                    <a:pt x="259477" y="5597335"/>
                  </a:lnTo>
                  <a:lnTo>
                    <a:pt x="290356" y="5629618"/>
                  </a:lnTo>
                  <a:lnTo>
                    <a:pt x="322639" y="5660497"/>
                  </a:lnTo>
                  <a:lnTo>
                    <a:pt x="356273" y="5689917"/>
                  </a:lnTo>
                  <a:lnTo>
                    <a:pt x="391205" y="5717826"/>
                  </a:lnTo>
                  <a:lnTo>
                    <a:pt x="427382" y="5744170"/>
                  </a:lnTo>
                  <a:lnTo>
                    <a:pt x="464750" y="5768897"/>
                  </a:lnTo>
                  <a:lnTo>
                    <a:pt x="503256" y="5791951"/>
                  </a:lnTo>
                  <a:lnTo>
                    <a:pt x="542847" y="5813281"/>
                  </a:lnTo>
                  <a:lnTo>
                    <a:pt x="583468" y="5832833"/>
                  </a:lnTo>
                  <a:lnTo>
                    <a:pt x="625068" y="5850553"/>
                  </a:lnTo>
                  <a:lnTo>
                    <a:pt x="667592" y="5866388"/>
                  </a:lnTo>
                  <a:lnTo>
                    <a:pt x="710987" y="5880285"/>
                  </a:lnTo>
                  <a:lnTo>
                    <a:pt x="755200" y="5892191"/>
                  </a:lnTo>
                  <a:lnTo>
                    <a:pt x="800177" y="5902051"/>
                  </a:lnTo>
                  <a:lnTo>
                    <a:pt x="845865" y="5909813"/>
                  </a:lnTo>
                  <a:lnTo>
                    <a:pt x="892211" y="5915424"/>
                  </a:lnTo>
                  <a:lnTo>
                    <a:pt x="939161" y="5918829"/>
                  </a:lnTo>
                  <a:lnTo>
                    <a:pt x="986663" y="5919976"/>
                  </a:lnTo>
                  <a:lnTo>
                    <a:pt x="10834624" y="5919976"/>
                  </a:lnTo>
                  <a:lnTo>
                    <a:pt x="10882124" y="5918829"/>
                  </a:lnTo>
                  <a:lnTo>
                    <a:pt x="10929074" y="5915424"/>
                  </a:lnTo>
                  <a:lnTo>
                    <a:pt x="10975419" y="5909813"/>
                  </a:lnTo>
                  <a:lnTo>
                    <a:pt x="11021107" y="5902051"/>
                  </a:lnTo>
                  <a:lnTo>
                    <a:pt x="11066084" y="5892191"/>
                  </a:lnTo>
                  <a:lnTo>
                    <a:pt x="11110297" y="5880285"/>
                  </a:lnTo>
                  <a:lnTo>
                    <a:pt x="11153692" y="5866388"/>
                  </a:lnTo>
                  <a:lnTo>
                    <a:pt x="11196216" y="5850553"/>
                  </a:lnTo>
                  <a:lnTo>
                    <a:pt x="11237815" y="5832833"/>
                  </a:lnTo>
                  <a:lnTo>
                    <a:pt x="11278437" y="5813281"/>
                  </a:lnTo>
                  <a:lnTo>
                    <a:pt x="11318027" y="5791951"/>
                  </a:lnTo>
                  <a:lnTo>
                    <a:pt x="11356533" y="5768897"/>
                  </a:lnTo>
                  <a:lnTo>
                    <a:pt x="11393901" y="5744170"/>
                  </a:lnTo>
                  <a:lnTo>
                    <a:pt x="11430078" y="5717826"/>
                  </a:lnTo>
                  <a:lnTo>
                    <a:pt x="11465010" y="5689917"/>
                  </a:lnTo>
                  <a:lnTo>
                    <a:pt x="11498645" y="5660497"/>
                  </a:lnTo>
                  <a:lnTo>
                    <a:pt x="11530928" y="5629618"/>
                  </a:lnTo>
                  <a:lnTo>
                    <a:pt x="11561806" y="5597335"/>
                  </a:lnTo>
                  <a:lnTo>
                    <a:pt x="11591227" y="5563701"/>
                  </a:lnTo>
                  <a:lnTo>
                    <a:pt x="11619136" y="5528769"/>
                  </a:lnTo>
                  <a:lnTo>
                    <a:pt x="11645480" y="5492592"/>
                  </a:lnTo>
                  <a:lnTo>
                    <a:pt x="11670206" y="5455224"/>
                  </a:lnTo>
                  <a:lnTo>
                    <a:pt x="11693261" y="5416718"/>
                  </a:lnTo>
                  <a:lnTo>
                    <a:pt x="11714591" y="5377127"/>
                  </a:lnTo>
                  <a:lnTo>
                    <a:pt x="11734143" y="5336506"/>
                  </a:lnTo>
                  <a:lnTo>
                    <a:pt x="11751863" y="5294906"/>
                  </a:lnTo>
                  <a:lnTo>
                    <a:pt x="11767698" y="5252383"/>
                  </a:lnTo>
                  <a:lnTo>
                    <a:pt x="11781596" y="5208988"/>
                  </a:lnTo>
                  <a:lnTo>
                    <a:pt x="11793501" y="5164775"/>
                  </a:lnTo>
                  <a:lnTo>
                    <a:pt x="11803361" y="5119798"/>
                  </a:lnTo>
                  <a:lnTo>
                    <a:pt x="11811124" y="5074110"/>
                  </a:lnTo>
                  <a:lnTo>
                    <a:pt x="11816734" y="5027765"/>
                  </a:lnTo>
                  <a:lnTo>
                    <a:pt x="11820140" y="4980815"/>
                  </a:lnTo>
                  <a:lnTo>
                    <a:pt x="11821287" y="4933315"/>
                  </a:lnTo>
                  <a:lnTo>
                    <a:pt x="11821287" y="986663"/>
                  </a:lnTo>
                  <a:lnTo>
                    <a:pt x="11820140" y="939162"/>
                  </a:lnTo>
                  <a:lnTo>
                    <a:pt x="11816734" y="892212"/>
                  </a:lnTo>
                  <a:lnTo>
                    <a:pt x="11811124" y="845867"/>
                  </a:lnTo>
                  <a:lnTo>
                    <a:pt x="11803361" y="800179"/>
                  </a:lnTo>
                  <a:lnTo>
                    <a:pt x="11793501" y="755202"/>
                  </a:lnTo>
                  <a:lnTo>
                    <a:pt x="11781596" y="710989"/>
                  </a:lnTo>
                  <a:lnTo>
                    <a:pt x="11767698" y="667594"/>
                  </a:lnTo>
                  <a:lnTo>
                    <a:pt x="11751863" y="625070"/>
                  </a:lnTo>
                  <a:lnTo>
                    <a:pt x="11734143" y="583471"/>
                  </a:lnTo>
                  <a:lnTo>
                    <a:pt x="11714591" y="542849"/>
                  </a:lnTo>
                  <a:lnTo>
                    <a:pt x="11693261" y="503259"/>
                  </a:lnTo>
                  <a:lnTo>
                    <a:pt x="11670206" y="464753"/>
                  </a:lnTo>
                  <a:lnTo>
                    <a:pt x="11645480" y="427385"/>
                  </a:lnTo>
                  <a:lnTo>
                    <a:pt x="11619136" y="391208"/>
                  </a:lnTo>
                  <a:lnTo>
                    <a:pt x="11591227" y="356276"/>
                  </a:lnTo>
                  <a:lnTo>
                    <a:pt x="11561806" y="322641"/>
                  </a:lnTo>
                  <a:lnTo>
                    <a:pt x="11530928" y="290358"/>
                  </a:lnTo>
                  <a:lnTo>
                    <a:pt x="11498645" y="259480"/>
                  </a:lnTo>
                  <a:lnTo>
                    <a:pt x="11465010" y="230059"/>
                  </a:lnTo>
                  <a:lnTo>
                    <a:pt x="11430078" y="202150"/>
                  </a:lnTo>
                  <a:lnTo>
                    <a:pt x="11393901" y="175806"/>
                  </a:lnTo>
                  <a:lnTo>
                    <a:pt x="11356533" y="151080"/>
                  </a:lnTo>
                  <a:lnTo>
                    <a:pt x="11318027" y="128025"/>
                  </a:lnTo>
                  <a:lnTo>
                    <a:pt x="11278437" y="106695"/>
                  </a:lnTo>
                  <a:lnTo>
                    <a:pt x="11237815" y="87143"/>
                  </a:lnTo>
                  <a:lnTo>
                    <a:pt x="11196216" y="69423"/>
                  </a:lnTo>
                  <a:lnTo>
                    <a:pt x="11153692" y="53588"/>
                  </a:lnTo>
                  <a:lnTo>
                    <a:pt x="11110297" y="39690"/>
                  </a:lnTo>
                  <a:lnTo>
                    <a:pt x="11066084" y="27785"/>
                  </a:lnTo>
                  <a:lnTo>
                    <a:pt x="11021107" y="17925"/>
                  </a:lnTo>
                  <a:lnTo>
                    <a:pt x="10975419" y="10162"/>
                  </a:lnTo>
                  <a:lnTo>
                    <a:pt x="10929074" y="4552"/>
                  </a:lnTo>
                  <a:lnTo>
                    <a:pt x="10882124" y="1146"/>
                  </a:lnTo>
                  <a:lnTo>
                    <a:pt x="10834624" y="0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7601" y="769440"/>
              <a:ext cx="11577320" cy="5791200"/>
            </a:xfrm>
            <a:custGeom>
              <a:avLst/>
              <a:gdLst/>
              <a:ahLst/>
              <a:cxnLst/>
              <a:rect l="l" t="t" r="r" b="b"/>
              <a:pathLst>
                <a:path w="11577320" h="5791200">
                  <a:moveTo>
                    <a:pt x="0" y="965200"/>
                  </a:moveTo>
                  <a:lnTo>
                    <a:pt x="1190" y="917332"/>
                  </a:lnTo>
                  <a:lnTo>
                    <a:pt x="4725" y="870038"/>
                  </a:lnTo>
                  <a:lnTo>
                    <a:pt x="10545" y="823376"/>
                  </a:lnTo>
                  <a:lnTo>
                    <a:pt x="18595" y="777401"/>
                  </a:lnTo>
                  <a:lnTo>
                    <a:pt x="28818" y="732171"/>
                  </a:lnTo>
                  <a:lnTo>
                    <a:pt x="41155" y="687743"/>
                  </a:lnTo>
                  <a:lnTo>
                    <a:pt x="55550" y="644175"/>
                  </a:lnTo>
                  <a:lnTo>
                    <a:pt x="71947" y="601522"/>
                  </a:lnTo>
                  <a:lnTo>
                    <a:pt x="90287" y="559843"/>
                  </a:lnTo>
                  <a:lnTo>
                    <a:pt x="110514" y="519195"/>
                  </a:lnTo>
                  <a:lnTo>
                    <a:pt x="132571" y="479634"/>
                  </a:lnTo>
                  <a:lnTo>
                    <a:pt x="156401" y="441218"/>
                  </a:lnTo>
                  <a:lnTo>
                    <a:pt x="181946" y="404004"/>
                  </a:lnTo>
                  <a:lnTo>
                    <a:pt x="209149" y="368048"/>
                  </a:lnTo>
                  <a:lnTo>
                    <a:pt x="237954" y="333409"/>
                  </a:lnTo>
                  <a:lnTo>
                    <a:pt x="268304" y="300142"/>
                  </a:lnTo>
                  <a:lnTo>
                    <a:pt x="300140" y="268305"/>
                  </a:lnTo>
                  <a:lnTo>
                    <a:pt x="333407" y="237956"/>
                  </a:lnTo>
                  <a:lnTo>
                    <a:pt x="368046" y="209151"/>
                  </a:lnTo>
                  <a:lnTo>
                    <a:pt x="404002" y="181947"/>
                  </a:lnTo>
                  <a:lnTo>
                    <a:pt x="441216" y="156402"/>
                  </a:lnTo>
                  <a:lnTo>
                    <a:pt x="479632" y="132572"/>
                  </a:lnTo>
                  <a:lnTo>
                    <a:pt x="519193" y="110515"/>
                  </a:lnTo>
                  <a:lnTo>
                    <a:pt x="559841" y="90288"/>
                  </a:lnTo>
                  <a:lnTo>
                    <a:pt x="601520" y="71948"/>
                  </a:lnTo>
                  <a:lnTo>
                    <a:pt x="644172" y="55551"/>
                  </a:lnTo>
                  <a:lnTo>
                    <a:pt x="687741" y="41155"/>
                  </a:lnTo>
                  <a:lnTo>
                    <a:pt x="732169" y="28818"/>
                  </a:lnTo>
                  <a:lnTo>
                    <a:pt x="777399" y="18595"/>
                  </a:lnTo>
                  <a:lnTo>
                    <a:pt x="823374" y="10545"/>
                  </a:lnTo>
                  <a:lnTo>
                    <a:pt x="870038" y="4725"/>
                  </a:lnTo>
                  <a:lnTo>
                    <a:pt x="917332" y="1190"/>
                  </a:lnTo>
                  <a:lnTo>
                    <a:pt x="965200" y="0"/>
                  </a:lnTo>
                  <a:lnTo>
                    <a:pt x="10611599" y="0"/>
                  </a:lnTo>
                  <a:lnTo>
                    <a:pt x="10659466" y="1190"/>
                  </a:lnTo>
                  <a:lnTo>
                    <a:pt x="10706760" y="4725"/>
                  </a:lnTo>
                  <a:lnTo>
                    <a:pt x="10753423" y="10545"/>
                  </a:lnTo>
                  <a:lnTo>
                    <a:pt x="10799398" y="18595"/>
                  </a:lnTo>
                  <a:lnTo>
                    <a:pt x="10844628" y="28818"/>
                  </a:lnTo>
                  <a:lnTo>
                    <a:pt x="10889055" y="41155"/>
                  </a:lnTo>
                  <a:lnTo>
                    <a:pt x="10932624" y="55551"/>
                  </a:lnTo>
                  <a:lnTo>
                    <a:pt x="10975276" y="71948"/>
                  </a:lnTo>
                  <a:lnTo>
                    <a:pt x="11016955" y="90288"/>
                  </a:lnTo>
                  <a:lnTo>
                    <a:pt x="11057603" y="110515"/>
                  </a:lnTo>
                  <a:lnTo>
                    <a:pt x="11097164" y="132572"/>
                  </a:lnTo>
                  <a:lnTo>
                    <a:pt x="11135580" y="156402"/>
                  </a:lnTo>
                  <a:lnTo>
                    <a:pt x="11172795" y="181947"/>
                  </a:lnTo>
                  <a:lnTo>
                    <a:pt x="11208750" y="209151"/>
                  </a:lnTo>
                  <a:lnTo>
                    <a:pt x="11243390" y="237956"/>
                  </a:lnTo>
                  <a:lnTo>
                    <a:pt x="11276656" y="268305"/>
                  </a:lnTo>
                  <a:lnTo>
                    <a:pt x="11308493" y="300142"/>
                  </a:lnTo>
                  <a:lnTo>
                    <a:pt x="11338842" y="333409"/>
                  </a:lnTo>
                  <a:lnTo>
                    <a:pt x="11367647" y="368048"/>
                  </a:lnTo>
                  <a:lnTo>
                    <a:pt x="11394851" y="404004"/>
                  </a:lnTo>
                  <a:lnTo>
                    <a:pt x="11420396" y="441218"/>
                  </a:lnTo>
                  <a:lnTo>
                    <a:pt x="11444226" y="479634"/>
                  </a:lnTo>
                  <a:lnTo>
                    <a:pt x="11466283" y="519195"/>
                  </a:lnTo>
                  <a:lnTo>
                    <a:pt x="11486510" y="559843"/>
                  </a:lnTo>
                  <a:lnTo>
                    <a:pt x="11504851" y="601522"/>
                  </a:lnTo>
                  <a:lnTo>
                    <a:pt x="11521247" y="644175"/>
                  </a:lnTo>
                  <a:lnTo>
                    <a:pt x="11535643" y="687743"/>
                  </a:lnTo>
                  <a:lnTo>
                    <a:pt x="11547980" y="732171"/>
                  </a:lnTo>
                  <a:lnTo>
                    <a:pt x="11558203" y="777401"/>
                  </a:lnTo>
                  <a:lnTo>
                    <a:pt x="11566253" y="823376"/>
                  </a:lnTo>
                  <a:lnTo>
                    <a:pt x="11572074" y="870038"/>
                  </a:lnTo>
                  <a:lnTo>
                    <a:pt x="11575608" y="917332"/>
                  </a:lnTo>
                  <a:lnTo>
                    <a:pt x="11576799" y="965200"/>
                  </a:lnTo>
                  <a:lnTo>
                    <a:pt x="11576799" y="4826000"/>
                  </a:lnTo>
                  <a:lnTo>
                    <a:pt x="11575608" y="4873867"/>
                  </a:lnTo>
                  <a:lnTo>
                    <a:pt x="11572074" y="4921161"/>
                  </a:lnTo>
                  <a:lnTo>
                    <a:pt x="11566253" y="4967823"/>
                  </a:lnTo>
                  <a:lnTo>
                    <a:pt x="11558203" y="5013798"/>
                  </a:lnTo>
                  <a:lnTo>
                    <a:pt x="11547980" y="5059028"/>
                  </a:lnTo>
                  <a:lnTo>
                    <a:pt x="11535643" y="5103456"/>
                  </a:lnTo>
                  <a:lnTo>
                    <a:pt x="11521247" y="5147024"/>
                  </a:lnTo>
                  <a:lnTo>
                    <a:pt x="11504851" y="5189677"/>
                  </a:lnTo>
                  <a:lnTo>
                    <a:pt x="11486510" y="5231355"/>
                  </a:lnTo>
                  <a:lnTo>
                    <a:pt x="11466283" y="5272004"/>
                  </a:lnTo>
                  <a:lnTo>
                    <a:pt x="11444226" y="5311564"/>
                  </a:lnTo>
                  <a:lnTo>
                    <a:pt x="11420396" y="5349980"/>
                  </a:lnTo>
                  <a:lnTo>
                    <a:pt x="11394851" y="5387195"/>
                  </a:lnTo>
                  <a:lnTo>
                    <a:pt x="11367647" y="5423150"/>
                  </a:lnTo>
                  <a:lnTo>
                    <a:pt x="11338842" y="5457790"/>
                  </a:lnTo>
                  <a:lnTo>
                    <a:pt x="11308493" y="5491056"/>
                  </a:lnTo>
                  <a:lnTo>
                    <a:pt x="11276656" y="5522893"/>
                  </a:lnTo>
                  <a:lnTo>
                    <a:pt x="11243390" y="5553242"/>
                  </a:lnTo>
                  <a:lnTo>
                    <a:pt x="11208750" y="5582047"/>
                  </a:lnTo>
                  <a:lnTo>
                    <a:pt x="11172795" y="5609251"/>
                  </a:lnTo>
                  <a:lnTo>
                    <a:pt x="11135580" y="5634796"/>
                  </a:lnTo>
                  <a:lnTo>
                    <a:pt x="11097164" y="5658626"/>
                  </a:lnTo>
                  <a:lnTo>
                    <a:pt x="11057603" y="5680683"/>
                  </a:lnTo>
                  <a:lnTo>
                    <a:pt x="11016955" y="5700910"/>
                  </a:lnTo>
                  <a:lnTo>
                    <a:pt x="10975276" y="5719250"/>
                  </a:lnTo>
                  <a:lnTo>
                    <a:pt x="10932624" y="5735647"/>
                  </a:lnTo>
                  <a:lnTo>
                    <a:pt x="10889055" y="5750042"/>
                  </a:lnTo>
                  <a:lnTo>
                    <a:pt x="10844628" y="5762380"/>
                  </a:lnTo>
                  <a:lnTo>
                    <a:pt x="10799398" y="5772602"/>
                  </a:lnTo>
                  <a:lnTo>
                    <a:pt x="10753423" y="5780652"/>
                  </a:lnTo>
                  <a:lnTo>
                    <a:pt x="10706760" y="5786473"/>
                  </a:lnTo>
                  <a:lnTo>
                    <a:pt x="10659466" y="5790007"/>
                  </a:lnTo>
                  <a:lnTo>
                    <a:pt x="10611599" y="5791198"/>
                  </a:lnTo>
                  <a:lnTo>
                    <a:pt x="965200" y="5791198"/>
                  </a:lnTo>
                  <a:lnTo>
                    <a:pt x="917332" y="5790007"/>
                  </a:lnTo>
                  <a:lnTo>
                    <a:pt x="870038" y="5786473"/>
                  </a:lnTo>
                  <a:lnTo>
                    <a:pt x="823374" y="5780652"/>
                  </a:lnTo>
                  <a:lnTo>
                    <a:pt x="777399" y="5772602"/>
                  </a:lnTo>
                  <a:lnTo>
                    <a:pt x="732169" y="5762380"/>
                  </a:lnTo>
                  <a:lnTo>
                    <a:pt x="687741" y="5750042"/>
                  </a:lnTo>
                  <a:lnTo>
                    <a:pt x="644172" y="5735647"/>
                  </a:lnTo>
                  <a:lnTo>
                    <a:pt x="601520" y="5719250"/>
                  </a:lnTo>
                  <a:lnTo>
                    <a:pt x="559841" y="5700910"/>
                  </a:lnTo>
                  <a:lnTo>
                    <a:pt x="519193" y="5680683"/>
                  </a:lnTo>
                  <a:lnTo>
                    <a:pt x="479632" y="5658626"/>
                  </a:lnTo>
                  <a:lnTo>
                    <a:pt x="441216" y="5634796"/>
                  </a:lnTo>
                  <a:lnTo>
                    <a:pt x="404002" y="5609251"/>
                  </a:lnTo>
                  <a:lnTo>
                    <a:pt x="368046" y="5582047"/>
                  </a:lnTo>
                  <a:lnTo>
                    <a:pt x="333407" y="5553242"/>
                  </a:lnTo>
                  <a:lnTo>
                    <a:pt x="300140" y="5522893"/>
                  </a:lnTo>
                  <a:lnTo>
                    <a:pt x="268304" y="5491056"/>
                  </a:lnTo>
                  <a:lnTo>
                    <a:pt x="237954" y="5457790"/>
                  </a:lnTo>
                  <a:lnTo>
                    <a:pt x="209149" y="5423150"/>
                  </a:lnTo>
                  <a:lnTo>
                    <a:pt x="181946" y="5387195"/>
                  </a:lnTo>
                  <a:lnTo>
                    <a:pt x="156401" y="5349980"/>
                  </a:lnTo>
                  <a:lnTo>
                    <a:pt x="132571" y="5311564"/>
                  </a:lnTo>
                  <a:lnTo>
                    <a:pt x="110514" y="5272004"/>
                  </a:lnTo>
                  <a:lnTo>
                    <a:pt x="90287" y="5231355"/>
                  </a:lnTo>
                  <a:lnTo>
                    <a:pt x="71947" y="5189677"/>
                  </a:lnTo>
                  <a:lnTo>
                    <a:pt x="55550" y="5147024"/>
                  </a:lnTo>
                  <a:lnTo>
                    <a:pt x="41155" y="5103456"/>
                  </a:lnTo>
                  <a:lnTo>
                    <a:pt x="28818" y="5059028"/>
                  </a:lnTo>
                  <a:lnTo>
                    <a:pt x="18595" y="5013798"/>
                  </a:lnTo>
                  <a:lnTo>
                    <a:pt x="10545" y="4967823"/>
                  </a:lnTo>
                  <a:lnTo>
                    <a:pt x="4725" y="4921161"/>
                  </a:lnTo>
                  <a:lnTo>
                    <a:pt x="1190" y="4873867"/>
                  </a:lnTo>
                  <a:lnTo>
                    <a:pt x="0" y="4826000"/>
                  </a:lnTo>
                  <a:lnTo>
                    <a:pt x="0" y="965200"/>
                  </a:lnTo>
                  <a:close/>
                </a:path>
              </a:pathLst>
            </a:custGeom>
            <a:ln w="12699">
              <a:solidFill>
                <a:srgbClr val="E8E8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601" y="769440"/>
              <a:ext cx="11576799" cy="57911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7601" y="769440"/>
              <a:ext cx="11577320" cy="5791200"/>
            </a:xfrm>
            <a:custGeom>
              <a:avLst/>
              <a:gdLst/>
              <a:ahLst/>
              <a:cxnLst/>
              <a:rect l="l" t="t" r="r" b="b"/>
              <a:pathLst>
                <a:path w="11577320" h="5791200">
                  <a:moveTo>
                    <a:pt x="0" y="965200"/>
                  </a:moveTo>
                  <a:lnTo>
                    <a:pt x="1190" y="917332"/>
                  </a:lnTo>
                  <a:lnTo>
                    <a:pt x="4725" y="870038"/>
                  </a:lnTo>
                  <a:lnTo>
                    <a:pt x="10545" y="823376"/>
                  </a:lnTo>
                  <a:lnTo>
                    <a:pt x="18595" y="777401"/>
                  </a:lnTo>
                  <a:lnTo>
                    <a:pt x="28818" y="732171"/>
                  </a:lnTo>
                  <a:lnTo>
                    <a:pt x="41155" y="687743"/>
                  </a:lnTo>
                  <a:lnTo>
                    <a:pt x="55550" y="644175"/>
                  </a:lnTo>
                  <a:lnTo>
                    <a:pt x="71947" y="601522"/>
                  </a:lnTo>
                  <a:lnTo>
                    <a:pt x="90287" y="559843"/>
                  </a:lnTo>
                  <a:lnTo>
                    <a:pt x="110514" y="519195"/>
                  </a:lnTo>
                  <a:lnTo>
                    <a:pt x="132571" y="479634"/>
                  </a:lnTo>
                  <a:lnTo>
                    <a:pt x="156401" y="441218"/>
                  </a:lnTo>
                  <a:lnTo>
                    <a:pt x="181946" y="404004"/>
                  </a:lnTo>
                  <a:lnTo>
                    <a:pt x="209149" y="368048"/>
                  </a:lnTo>
                  <a:lnTo>
                    <a:pt x="237954" y="333409"/>
                  </a:lnTo>
                  <a:lnTo>
                    <a:pt x="268304" y="300142"/>
                  </a:lnTo>
                  <a:lnTo>
                    <a:pt x="300140" y="268305"/>
                  </a:lnTo>
                  <a:lnTo>
                    <a:pt x="333407" y="237956"/>
                  </a:lnTo>
                  <a:lnTo>
                    <a:pt x="368046" y="209151"/>
                  </a:lnTo>
                  <a:lnTo>
                    <a:pt x="404002" y="181947"/>
                  </a:lnTo>
                  <a:lnTo>
                    <a:pt x="441216" y="156402"/>
                  </a:lnTo>
                  <a:lnTo>
                    <a:pt x="479632" y="132572"/>
                  </a:lnTo>
                  <a:lnTo>
                    <a:pt x="519193" y="110515"/>
                  </a:lnTo>
                  <a:lnTo>
                    <a:pt x="559841" y="90288"/>
                  </a:lnTo>
                  <a:lnTo>
                    <a:pt x="601520" y="71948"/>
                  </a:lnTo>
                  <a:lnTo>
                    <a:pt x="644172" y="55551"/>
                  </a:lnTo>
                  <a:lnTo>
                    <a:pt x="687741" y="41155"/>
                  </a:lnTo>
                  <a:lnTo>
                    <a:pt x="732169" y="28818"/>
                  </a:lnTo>
                  <a:lnTo>
                    <a:pt x="777399" y="18595"/>
                  </a:lnTo>
                  <a:lnTo>
                    <a:pt x="823374" y="10545"/>
                  </a:lnTo>
                  <a:lnTo>
                    <a:pt x="870038" y="4725"/>
                  </a:lnTo>
                  <a:lnTo>
                    <a:pt x="917332" y="1190"/>
                  </a:lnTo>
                  <a:lnTo>
                    <a:pt x="965200" y="0"/>
                  </a:lnTo>
                  <a:lnTo>
                    <a:pt x="10611599" y="0"/>
                  </a:lnTo>
                  <a:lnTo>
                    <a:pt x="10659466" y="1190"/>
                  </a:lnTo>
                  <a:lnTo>
                    <a:pt x="10706760" y="4725"/>
                  </a:lnTo>
                  <a:lnTo>
                    <a:pt x="10753423" y="10545"/>
                  </a:lnTo>
                  <a:lnTo>
                    <a:pt x="10799398" y="18595"/>
                  </a:lnTo>
                  <a:lnTo>
                    <a:pt x="10844628" y="28818"/>
                  </a:lnTo>
                  <a:lnTo>
                    <a:pt x="10889055" y="41155"/>
                  </a:lnTo>
                  <a:lnTo>
                    <a:pt x="10932624" y="55551"/>
                  </a:lnTo>
                  <a:lnTo>
                    <a:pt x="10975276" y="71948"/>
                  </a:lnTo>
                  <a:lnTo>
                    <a:pt x="11016955" y="90288"/>
                  </a:lnTo>
                  <a:lnTo>
                    <a:pt x="11057603" y="110515"/>
                  </a:lnTo>
                  <a:lnTo>
                    <a:pt x="11097164" y="132572"/>
                  </a:lnTo>
                  <a:lnTo>
                    <a:pt x="11135580" y="156402"/>
                  </a:lnTo>
                  <a:lnTo>
                    <a:pt x="11172795" y="181947"/>
                  </a:lnTo>
                  <a:lnTo>
                    <a:pt x="11208750" y="209151"/>
                  </a:lnTo>
                  <a:lnTo>
                    <a:pt x="11243390" y="237956"/>
                  </a:lnTo>
                  <a:lnTo>
                    <a:pt x="11276656" y="268305"/>
                  </a:lnTo>
                  <a:lnTo>
                    <a:pt x="11308493" y="300142"/>
                  </a:lnTo>
                  <a:lnTo>
                    <a:pt x="11338842" y="333409"/>
                  </a:lnTo>
                  <a:lnTo>
                    <a:pt x="11367647" y="368048"/>
                  </a:lnTo>
                  <a:lnTo>
                    <a:pt x="11394851" y="404004"/>
                  </a:lnTo>
                  <a:lnTo>
                    <a:pt x="11420396" y="441218"/>
                  </a:lnTo>
                  <a:lnTo>
                    <a:pt x="11444226" y="479634"/>
                  </a:lnTo>
                  <a:lnTo>
                    <a:pt x="11466283" y="519195"/>
                  </a:lnTo>
                  <a:lnTo>
                    <a:pt x="11486510" y="559843"/>
                  </a:lnTo>
                  <a:lnTo>
                    <a:pt x="11504851" y="601522"/>
                  </a:lnTo>
                  <a:lnTo>
                    <a:pt x="11521247" y="644175"/>
                  </a:lnTo>
                  <a:lnTo>
                    <a:pt x="11535643" y="687743"/>
                  </a:lnTo>
                  <a:lnTo>
                    <a:pt x="11547980" y="732171"/>
                  </a:lnTo>
                  <a:lnTo>
                    <a:pt x="11558203" y="777401"/>
                  </a:lnTo>
                  <a:lnTo>
                    <a:pt x="11566253" y="823376"/>
                  </a:lnTo>
                  <a:lnTo>
                    <a:pt x="11572074" y="870038"/>
                  </a:lnTo>
                  <a:lnTo>
                    <a:pt x="11575608" y="917332"/>
                  </a:lnTo>
                  <a:lnTo>
                    <a:pt x="11576799" y="965200"/>
                  </a:lnTo>
                  <a:lnTo>
                    <a:pt x="11576799" y="4826000"/>
                  </a:lnTo>
                  <a:lnTo>
                    <a:pt x="11575608" y="4873867"/>
                  </a:lnTo>
                  <a:lnTo>
                    <a:pt x="11572074" y="4921161"/>
                  </a:lnTo>
                  <a:lnTo>
                    <a:pt x="11566253" y="4967823"/>
                  </a:lnTo>
                  <a:lnTo>
                    <a:pt x="11558203" y="5013798"/>
                  </a:lnTo>
                  <a:lnTo>
                    <a:pt x="11547980" y="5059028"/>
                  </a:lnTo>
                  <a:lnTo>
                    <a:pt x="11535643" y="5103456"/>
                  </a:lnTo>
                  <a:lnTo>
                    <a:pt x="11521247" y="5147024"/>
                  </a:lnTo>
                  <a:lnTo>
                    <a:pt x="11504851" y="5189677"/>
                  </a:lnTo>
                  <a:lnTo>
                    <a:pt x="11486510" y="5231355"/>
                  </a:lnTo>
                  <a:lnTo>
                    <a:pt x="11466283" y="5272004"/>
                  </a:lnTo>
                  <a:lnTo>
                    <a:pt x="11444226" y="5311564"/>
                  </a:lnTo>
                  <a:lnTo>
                    <a:pt x="11420396" y="5349980"/>
                  </a:lnTo>
                  <a:lnTo>
                    <a:pt x="11394851" y="5387195"/>
                  </a:lnTo>
                  <a:lnTo>
                    <a:pt x="11367647" y="5423150"/>
                  </a:lnTo>
                  <a:lnTo>
                    <a:pt x="11338842" y="5457790"/>
                  </a:lnTo>
                  <a:lnTo>
                    <a:pt x="11308493" y="5491056"/>
                  </a:lnTo>
                  <a:lnTo>
                    <a:pt x="11276656" y="5522893"/>
                  </a:lnTo>
                  <a:lnTo>
                    <a:pt x="11243390" y="5553242"/>
                  </a:lnTo>
                  <a:lnTo>
                    <a:pt x="11208750" y="5582047"/>
                  </a:lnTo>
                  <a:lnTo>
                    <a:pt x="11172795" y="5609251"/>
                  </a:lnTo>
                  <a:lnTo>
                    <a:pt x="11135580" y="5634796"/>
                  </a:lnTo>
                  <a:lnTo>
                    <a:pt x="11097164" y="5658626"/>
                  </a:lnTo>
                  <a:lnTo>
                    <a:pt x="11057603" y="5680683"/>
                  </a:lnTo>
                  <a:lnTo>
                    <a:pt x="11016955" y="5700910"/>
                  </a:lnTo>
                  <a:lnTo>
                    <a:pt x="10975276" y="5719250"/>
                  </a:lnTo>
                  <a:lnTo>
                    <a:pt x="10932624" y="5735647"/>
                  </a:lnTo>
                  <a:lnTo>
                    <a:pt x="10889055" y="5750042"/>
                  </a:lnTo>
                  <a:lnTo>
                    <a:pt x="10844628" y="5762380"/>
                  </a:lnTo>
                  <a:lnTo>
                    <a:pt x="10799398" y="5772602"/>
                  </a:lnTo>
                  <a:lnTo>
                    <a:pt x="10753423" y="5780652"/>
                  </a:lnTo>
                  <a:lnTo>
                    <a:pt x="10706760" y="5786473"/>
                  </a:lnTo>
                  <a:lnTo>
                    <a:pt x="10659466" y="5790007"/>
                  </a:lnTo>
                  <a:lnTo>
                    <a:pt x="10611599" y="5791198"/>
                  </a:lnTo>
                  <a:lnTo>
                    <a:pt x="965200" y="5791198"/>
                  </a:lnTo>
                  <a:lnTo>
                    <a:pt x="917332" y="5790007"/>
                  </a:lnTo>
                  <a:lnTo>
                    <a:pt x="870038" y="5786473"/>
                  </a:lnTo>
                  <a:lnTo>
                    <a:pt x="823374" y="5780652"/>
                  </a:lnTo>
                  <a:lnTo>
                    <a:pt x="777399" y="5772602"/>
                  </a:lnTo>
                  <a:lnTo>
                    <a:pt x="732169" y="5762380"/>
                  </a:lnTo>
                  <a:lnTo>
                    <a:pt x="687741" y="5750042"/>
                  </a:lnTo>
                  <a:lnTo>
                    <a:pt x="644172" y="5735647"/>
                  </a:lnTo>
                  <a:lnTo>
                    <a:pt x="601520" y="5719250"/>
                  </a:lnTo>
                  <a:lnTo>
                    <a:pt x="559841" y="5700910"/>
                  </a:lnTo>
                  <a:lnTo>
                    <a:pt x="519193" y="5680683"/>
                  </a:lnTo>
                  <a:lnTo>
                    <a:pt x="479632" y="5658626"/>
                  </a:lnTo>
                  <a:lnTo>
                    <a:pt x="441216" y="5634796"/>
                  </a:lnTo>
                  <a:lnTo>
                    <a:pt x="404002" y="5609251"/>
                  </a:lnTo>
                  <a:lnTo>
                    <a:pt x="368046" y="5582047"/>
                  </a:lnTo>
                  <a:lnTo>
                    <a:pt x="333407" y="5553242"/>
                  </a:lnTo>
                  <a:lnTo>
                    <a:pt x="300140" y="5522893"/>
                  </a:lnTo>
                  <a:lnTo>
                    <a:pt x="268304" y="5491056"/>
                  </a:lnTo>
                  <a:lnTo>
                    <a:pt x="237954" y="5457790"/>
                  </a:lnTo>
                  <a:lnTo>
                    <a:pt x="209149" y="5423150"/>
                  </a:lnTo>
                  <a:lnTo>
                    <a:pt x="181946" y="5387195"/>
                  </a:lnTo>
                  <a:lnTo>
                    <a:pt x="156401" y="5349980"/>
                  </a:lnTo>
                  <a:lnTo>
                    <a:pt x="132571" y="5311564"/>
                  </a:lnTo>
                  <a:lnTo>
                    <a:pt x="110514" y="5272004"/>
                  </a:lnTo>
                  <a:lnTo>
                    <a:pt x="90287" y="5231355"/>
                  </a:lnTo>
                  <a:lnTo>
                    <a:pt x="71947" y="5189677"/>
                  </a:lnTo>
                  <a:lnTo>
                    <a:pt x="55550" y="5147024"/>
                  </a:lnTo>
                  <a:lnTo>
                    <a:pt x="41155" y="5103456"/>
                  </a:lnTo>
                  <a:lnTo>
                    <a:pt x="28818" y="5059028"/>
                  </a:lnTo>
                  <a:lnTo>
                    <a:pt x="18595" y="5013798"/>
                  </a:lnTo>
                  <a:lnTo>
                    <a:pt x="10545" y="4967823"/>
                  </a:lnTo>
                  <a:lnTo>
                    <a:pt x="4725" y="4921161"/>
                  </a:lnTo>
                  <a:lnTo>
                    <a:pt x="1190" y="4873867"/>
                  </a:lnTo>
                  <a:lnTo>
                    <a:pt x="0" y="4826000"/>
                  </a:lnTo>
                  <a:lnTo>
                    <a:pt x="0" y="965200"/>
                  </a:lnTo>
                  <a:close/>
                </a:path>
              </a:pathLst>
            </a:custGeom>
            <a:ln w="12699">
              <a:solidFill>
                <a:srgbClr val="E8E8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 spc="-10"/>
              <a:t>IMPLEMENTATION: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908" y="707923"/>
            <a:ext cx="11441963" cy="6049572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9558" y="688873"/>
          <a:ext cx="11530965" cy="6045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0715"/>
                <a:gridCol w="5720715"/>
              </a:tblGrid>
              <a:tr h="320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5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20" b="1">
                          <a:latin typeface="Times New Roman"/>
                          <a:cs typeface="Times New Roman"/>
                        </a:rPr>
                        <a:t>Tool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Justification</a:t>
                      </a:r>
                      <a:r>
                        <a:rPr dirty="0" sz="15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5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Purpose</a:t>
                      </a:r>
                      <a:r>
                        <a:rPr dirty="0" sz="15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5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Project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ESP32</a:t>
                      </a:r>
                      <a:r>
                        <a:rPr dirty="0" sz="15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Microcontroller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20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7528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Acts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unit,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processing,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accident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logic,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GPS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acquisition,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communication.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MPU6050</a:t>
                      </a:r>
                      <a:r>
                        <a:rPr dirty="0" sz="15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(Accelerometer</a:t>
                      </a:r>
                      <a:r>
                        <a:rPr dirty="0" sz="15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5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Gyroscope)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20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5430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Detects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sudden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acceleration,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tilt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changes,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abnormal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patterns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possible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accidents.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Vibration</a:t>
                      </a:r>
                      <a:r>
                        <a:rPr dirty="0" sz="15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dirty="0" sz="15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Module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365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Senses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impact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shocks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collision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forces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accurate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crash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detection.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Neo-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6M</a:t>
                      </a:r>
                      <a:r>
                        <a:rPr dirty="0" sz="15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GPS</a:t>
                      </a:r>
                      <a:r>
                        <a:rPr dirty="0" sz="15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Module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321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real-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5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latitude</a:t>
                      </a:r>
                      <a:r>
                        <a:rPr dirty="0" sz="15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longitude</a:t>
                      </a:r>
                      <a:r>
                        <a:rPr dirty="0" sz="15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coordinates</a:t>
                      </a:r>
                      <a:r>
                        <a:rPr dirty="0" sz="15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precise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accident location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tracking.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7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SIM800L</a:t>
                      </a:r>
                      <a:r>
                        <a:rPr dirty="0" sz="15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dirty="0" sz="15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Module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20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2225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emergency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SMS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GPS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predefined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contacts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requiring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connectivity.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Hall-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Effect</a:t>
                      </a:r>
                      <a:r>
                        <a:rPr dirty="0" sz="1500" spc="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Sensor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883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Detects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helmet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buckle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fastening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activates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only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helmet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5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worn.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Li-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ion</a:t>
                      </a:r>
                      <a:r>
                        <a:rPr dirty="0" sz="15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dirty="0" sz="15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(3.7V)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321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Supplies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portable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rechargeable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standalone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helmet operation.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TP4056</a:t>
                      </a:r>
                      <a:r>
                        <a:rPr dirty="0" sz="15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Charging</a:t>
                      </a:r>
                      <a:r>
                        <a:rPr dirty="0" sz="15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Module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1652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Ensures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safe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charging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constant-current/constant-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voltage</a:t>
                      </a:r>
                      <a:r>
                        <a:rPr dirty="0" sz="150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method.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Boost/Buck</a:t>
                      </a:r>
                      <a:r>
                        <a:rPr dirty="0" sz="15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Converter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9429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Regulates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voltage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levels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provide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stable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supply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components.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P-</a:t>
                      </a:r>
                      <a:r>
                        <a:rPr dirty="0" sz="1500" b="1">
                          <a:latin typeface="Times New Roman"/>
                          <a:cs typeface="Times New Roman"/>
                        </a:rPr>
                        <a:t>Channel</a:t>
                      </a:r>
                      <a:r>
                        <a:rPr dirty="0" sz="15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MOSFET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768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500">
                          <a:latin typeface="Times New Roman"/>
                          <a:cs typeface="Times New Roman"/>
                        </a:rPr>
                        <a:t>Enables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side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switching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dirty="0" sz="15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energy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management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dirty="0" sz="15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>
                          <a:latin typeface="Times New Roman"/>
                          <a:cs typeface="Times New Roman"/>
                        </a:rPr>
                        <a:t>consumption.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145F82"/>
                      </a:solidFill>
                      <a:prstDash val="solid"/>
                    </a:lnL>
                    <a:lnR w="12700">
                      <a:solidFill>
                        <a:srgbClr val="145F82"/>
                      </a:solidFill>
                      <a:prstDash val="solid"/>
                    </a:lnR>
                    <a:lnT w="12700">
                      <a:solidFill>
                        <a:srgbClr val="145F82"/>
                      </a:solidFill>
                      <a:prstDash val="solid"/>
                    </a:lnT>
                    <a:lnB w="12700">
                      <a:solidFill>
                        <a:srgbClr val="145F82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 spc="-10"/>
              <a:t>IMPLEMENTATION: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592" y="1433918"/>
            <a:ext cx="11031791" cy="4265637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2242" y="1414869"/>
          <a:ext cx="11120755" cy="4264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5610"/>
                <a:gridCol w="5515610"/>
              </a:tblGrid>
              <a:tr h="445770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dirty="0" sz="18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8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Components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Justification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268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2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IDE</a:t>
                      </a:r>
                      <a:r>
                        <a:rPr dirty="0" sz="18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8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PlatformIO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843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firmware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development,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uploading,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290" marR="899794">
                        <a:lnSpc>
                          <a:spcPct val="15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debugging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extensive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library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compatibility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ESP32.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268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2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Embedded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8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MicroPython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843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Programming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languages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reading,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290" marR="1412240">
                        <a:lnSpc>
                          <a:spcPct val="15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accident-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logic,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GPS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parsing,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GSM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communication,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management.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281430">
                <a:tc>
                  <a:txBody>
                    <a:bodyPr/>
                    <a:lstStyle/>
                    <a:p>
                      <a:pPr marL="34290" marR="434340">
                        <a:lnSpc>
                          <a:spcPct val="150000"/>
                        </a:lnSpc>
                        <a:spcBef>
                          <a:spcPts val="78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dirty="0" sz="18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dirty="0" sz="18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Libraries</a:t>
                      </a:r>
                      <a:r>
                        <a:rPr dirty="0" sz="18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(TinyGPS++,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MPU6050,</a:t>
                      </a:r>
                      <a:r>
                        <a:rPr dirty="0" sz="18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dirty="0" sz="18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libraries)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06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Simplify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interfacing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modules,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reduce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4290" marR="372745">
                        <a:lnSpc>
                          <a:spcPct val="150000"/>
                        </a:lnSpc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time,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reliable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parsing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data.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TOOLS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 spc="-10"/>
              <a:t>IMPLEMENTATION: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566" y="789220"/>
            <a:ext cx="264541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Times New Roman"/>
                <a:cs typeface="Times New Roman"/>
              </a:rPr>
              <a:t>SOFTWARE</a:t>
            </a:r>
            <a:r>
              <a:rPr dirty="0" sz="2300" spc="-110" b="1">
                <a:latin typeface="Times New Roman"/>
                <a:cs typeface="Times New Roman"/>
              </a:rPr>
              <a:t> </a:t>
            </a:r>
            <a:r>
              <a:rPr dirty="0" sz="2300" spc="-10" b="1">
                <a:latin typeface="Times New Roman"/>
                <a:cs typeface="Times New Roman"/>
              </a:rPr>
              <a:t>USED:</a:t>
            </a:r>
            <a:endParaRPr sz="2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613" y="1216333"/>
            <a:ext cx="10446778" cy="1949602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6263" y="1197283"/>
          <a:ext cx="10535920" cy="1948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3510"/>
                <a:gridCol w="5223510"/>
              </a:tblGrid>
              <a:tr h="3689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dirty="0" sz="1600" spc="-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Tool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Justification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dirty="0" sz="16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IDE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4629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9908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Open-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source,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beginner-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friendly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wide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ESP32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libraries.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9347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Twilio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 API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938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66090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Enables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instant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SMS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delivery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cloud;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eliminates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GSM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needs,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delivery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tracking,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scales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well.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31140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47566" y="3215995"/>
            <a:ext cx="358521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 b="1">
                <a:latin typeface="Times New Roman"/>
                <a:cs typeface="Times New Roman"/>
              </a:rPr>
              <a:t>ADDITIONAL</a:t>
            </a:r>
            <a:r>
              <a:rPr dirty="0" sz="2300" spc="-85" b="1">
                <a:latin typeface="Times New Roman"/>
                <a:cs typeface="Times New Roman"/>
              </a:rPr>
              <a:t> </a:t>
            </a:r>
            <a:r>
              <a:rPr dirty="0" sz="2300" spc="-10" b="1">
                <a:latin typeface="Times New Roman"/>
                <a:cs typeface="Times New Roman"/>
              </a:rPr>
              <a:t>UTILITIES:</a:t>
            </a:r>
            <a:endParaRPr sz="23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613" y="3717518"/>
            <a:ext cx="10515600" cy="2816859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66263" y="3698468"/>
          <a:ext cx="10604500" cy="2816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/>
                <a:gridCol w="5257800"/>
              </a:tblGrid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Tool/Resource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Justification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I2C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 Protocol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95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Minimizes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GPIO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usage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allowing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devices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(e.g.,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LCD)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communicate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wire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interface,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simplifying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6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design.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6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Connectivity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0805" marR="32385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Leverages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ESP32’s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built-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enable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seamless,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Twilio’s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extra modules.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835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C/C++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Programming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89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hardware,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memory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management,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necessary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embedded applications.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9055">
                    <a:lnL w="12700">
                      <a:solidFill>
                        <a:srgbClr val="0F9ED4"/>
                      </a:solidFill>
                      <a:prstDash val="solid"/>
                    </a:lnL>
                    <a:lnR w="12700">
                      <a:solidFill>
                        <a:srgbClr val="0F9ED4"/>
                      </a:solidFill>
                      <a:prstDash val="solid"/>
                    </a:lnR>
                    <a:lnT w="12700">
                      <a:solidFill>
                        <a:srgbClr val="0F9ED4"/>
                      </a:solidFill>
                      <a:prstDash val="solid"/>
                    </a:lnT>
                    <a:lnB w="12700">
                      <a:solidFill>
                        <a:srgbClr val="0F9ED4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BASE</a:t>
            </a:r>
            <a:r>
              <a:rPr dirty="0" spc="-20"/>
              <a:t> </a:t>
            </a:r>
            <a:r>
              <a:rPr dirty="0"/>
              <a:t>PAPER</a:t>
            </a:r>
            <a:r>
              <a:rPr dirty="0" spc="-5"/>
              <a:t> </a:t>
            </a:r>
            <a:r>
              <a:rPr dirty="0" spc="-10"/>
              <a:t>REFERENCE: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121" y="2450300"/>
            <a:ext cx="11736705" cy="167132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latin typeface="Times New Roman"/>
                <a:cs typeface="Times New Roman"/>
              </a:rPr>
              <a:t>Base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Paper: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"Smart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Helmet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Using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Accelerometer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GSM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for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Accident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Detection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Reporting"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dirty="0" sz="1800" b="1">
                <a:latin typeface="Times New Roman"/>
                <a:cs typeface="Times New Roman"/>
              </a:rPr>
              <a:t>Authors: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Shinde,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Patil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Kulkarni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(2021)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International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Journal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of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Emerging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Technologies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and</a:t>
            </a:r>
            <a:r>
              <a:rPr dirty="0" sz="1800" spc="-3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Innovative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Research </a:t>
            </a:r>
            <a:r>
              <a:rPr dirty="0" sz="1800" b="1">
                <a:latin typeface="Times New Roman"/>
                <a:cs typeface="Times New Roman"/>
              </a:rPr>
              <a:t>Citation: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Shinde,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S.,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Patil,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A.,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Kulkarni,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R.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(2021).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Smart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Helmet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Using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Accelerometer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and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GSM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for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Accident</a:t>
            </a:r>
            <a:r>
              <a:rPr dirty="0" sz="1800" spc="-25" i="1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Detection</a:t>
            </a:r>
            <a:r>
              <a:rPr dirty="0" sz="1800" spc="-30" i="1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and </a:t>
            </a:r>
            <a:r>
              <a:rPr dirty="0" sz="1800" i="1">
                <a:latin typeface="Times New Roman"/>
                <a:cs typeface="Times New Roman"/>
              </a:rPr>
              <a:t>Reporting</a:t>
            </a:r>
            <a:r>
              <a:rPr dirty="0" sz="1800">
                <a:latin typeface="Times New Roman"/>
                <a:cs typeface="Times New Roman"/>
              </a:rPr>
              <a:t>.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International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Journal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Emerging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Technologies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Innovative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Research,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8(6),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45–</a:t>
            </a:r>
            <a:r>
              <a:rPr dirty="0" sz="1800" spc="-25">
                <a:latin typeface="Times New Roman"/>
                <a:cs typeface="Times New Roman"/>
              </a:rPr>
              <a:t>52.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BASE</a:t>
            </a:r>
            <a:r>
              <a:rPr dirty="0" spc="-20"/>
              <a:t> </a:t>
            </a:r>
            <a:r>
              <a:rPr dirty="0"/>
              <a:t>PAPER</a:t>
            </a:r>
            <a:r>
              <a:rPr dirty="0" spc="-5"/>
              <a:t> </a:t>
            </a:r>
            <a:r>
              <a:rPr dirty="0" spc="-10"/>
              <a:t>REFERENCE: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806033"/>
            <a:ext cx="5113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Relevance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the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Base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Paper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to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the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Proposed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System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1133" y="1209979"/>
          <a:ext cx="11986260" cy="5638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5575"/>
                <a:gridCol w="3965575"/>
                <a:gridCol w="3965575"/>
              </a:tblGrid>
              <a:tr h="44323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Aspect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Shinde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al.,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2021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(Base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Paper)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Proposed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Idea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(Your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Smart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Helmet)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633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Activation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Mechanism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System always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Buckle-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activated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power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ensuring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operation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only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helmet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worn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Sensor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Use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Single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accelerometer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sensor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Sensor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fusion: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MPU6050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(IMU)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Vibration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Sensor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633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Accident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Accuracy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Basic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impact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detection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accuracy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tilt,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acceleration,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vibration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analysis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Power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Management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power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optimization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Ultra-low-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power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standby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mode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selective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module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activation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633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Location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Tracking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Basic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GPS-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based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reporting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GPS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module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activated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only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after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detection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power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efficiency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Alert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Mechanism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Direct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SMS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alert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Rider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verification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SMS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live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location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633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False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Alert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Handling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filtering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confirmation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Automatic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YES/NO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confirmation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message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before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sending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emergency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alert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Communication</a:t>
                      </a:r>
                      <a:r>
                        <a:rPr dirty="0" sz="120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Technology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GSM-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based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SMS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only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GSM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intelligent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decision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logic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autonomous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alerting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Reliability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dirty="0" sz="1200" spc="-10">
                          <a:latin typeface="Arial MT"/>
                          <a:cs typeface="Arial MT"/>
                        </a:rPr>
                        <a:t>Moderate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due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multi-sensor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fusion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verification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controlled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power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states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300" y="287717"/>
            <a:ext cx="399796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 b="0">
                <a:latin typeface="Arial MT"/>
                <a:cs typeface="Arial MT"/>
              </a:rPr>
              <a:t>REFERENCES: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3259" y="1064157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1.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6206" y="1064157"/>
            <a:ext cx="9985375" cy="487362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 marR="281305">
              <a:lnSpc>
                <a:spcPct val="70000"/>
              </a:lnSpc>
              <a:spcBef>
                <a:spcPts val="710"/>
              </a:spcBef>
              <a:tabLst>
                <a:tab pos="575945" algn="l"/>
              </a:tabLst>
            </a:pPr>
            <a:r>
              <a:rPr dirty="0" sz="1700">
                <a:latin typeface="Times New Roman"/>
                <a:cs typeface="Times New Roman"/>
              </a:rPr>
              <a:t>1.R.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Kumar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Raj,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</a:t>
            </a:r>
            <a:r>
              <a:rPr dirty="0" sz="1700" i="1">
                <a:latin typeface="Times New Roman"/>
                <a:cs typeface="Times New Roman"/>
              </a:rPr>
              <a:t>Design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and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Implementation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of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spc="-10" i="1">
                <a:latin typeface="Times New Roman"/>
                <a:cs typeface="Times New Roman"/>
              </a:rPr>
              <a:t>IoT-</a:t>
            </a:r>
            <a:r>
              <a:rPr dirty="0" sz="1700" i="1">
                <a:latin typeface="Times New Roman"/>
                <a:cs typeface="Times New Roman"/>
              </a:rPr>
              <a:t>Based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Smart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Helmet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for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Accident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Detection</a:t>
            </a:r>
            <a:r>
              <a:rPr dirty="0" sz="1700">
                <a:latin typeface="Times New Roman"/>
                <a:cs typeface="Times New Roman"/>
              </a:rPr>
              <a:t>,”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J. </a:t>
            </a:r>
            <a:r>
              <a:rPr dirty="0" sz="1700" spc="-20">
                <a:latin typeface="Times New Roman"/>
                <a:cs typeface="Times New Roman"/>
              </a:rPr>
              <a:t>Eng.</a:t>
            </a:r>
            <a:r>
              <a:rPr dirty="0" sz="1700">
                <a:latin typeface="Times New Roman"/>
                <a:cs typeface="Times New Roman"/>
              </a:rPr>
              <a:t>	Res.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Technol.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(IJERT),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2020.</a:t>
            </a:r>
            <a:endParaRPr sz="1700">
              <a:latin typeface="Times New Roman"/>
              <a:cs typeface="Times New Roman"/>
            </a:endParaRPr>
          </a:p>
          <a:p>
            <a:pPr marL="12700" marR="589280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A.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Verma,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Singh,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Sharma,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</a:t>
            </a:r>
            <a:r>
              <a:rPr dirty="0" sz="1700" i="1">
                <a:latin typeface="Times New Roman"/>
                <a:cs typeface="Times New Roman"/>
              </a:rPr>
              <a:t>Accident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Detection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and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Emergency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Alert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System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Using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GPS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and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spc="-25" i="1">
                <a:latin typeface="Times New Roman"/>
                <a:cs typeface="Times New Roman"/>
              </a:rPr>
              <a:t>GSM </a:t>
            </a:r>
            <a:r>
              <a:rPr dirty="0" sz="1700" i="1">
                <a:latin typeface="Times New Roman"/>
                <a:cs typeface="Times New Roman"/>
              </a:rPr>
              <a:t>Module</a:t>
            </a:r>
            <a:r>
              <a:rPr dirty="0" sz="1700">
                <a:latin typeface="Times New Roman"/>
                <a:cs typeface="Times New Roman"/>
              </a:rPr>
              <a:t>”,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Journal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Computer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Applications,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2020.</a:t>
            </a:r>
            <a:endParaRPr sz="1700">
              <a:latin typeface="Times New Roman"/>
              <a:cs typeface="Times New Roman"/>
            </a:endParaRPr>
          </a:p>
          <a:p>
            <a:pPr marL="12700" marR="120014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M.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Hossain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Muhammad,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“</a:t>
            </a:r>
            <a:r>
              <a:rPr dirty="0" sz="1700" spc="-10" i="1">
                <a:latin typeface="Times New Roman"/>
                <a:cs typeface="Times New Roman"/>
              </a:rPr>
              <a:t>IoT-</a:t>
            </a:r>
            <a:r>
              <a:rPr dirty="0" sz="1700" i="1">
                <a:latin typeface="Times New Roman"/>
                <a:cs typeface="Times New Roman"/>
              </a:rPr>
              <a:t>Based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Intelligent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Helmet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for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Accident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Detection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and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Rider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Safety</a:t>
            </a:r>
            <a:r>
              <a:rPr dirty="0" sz="1700">
                <a:latin typeface="Times New Roman"/>
                <a:cs typeface="Times New Roman"/>
              </a:rPr>
              <a:t>,”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IEEE </a:t>
            </a:r>
            <a:r>
              <a:rPr dirty="0" sz="1700">
                <a:latin typeface="Times New Roman"/>
                <a:cs typeface="Times New Roman"/>
              </a:rPr>
              <a:t>Access,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vol.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8,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123456–123465,</a:t>
            </a:r>
            <a:r>
              <a:rPr dirty="0" sz="1700" spc="-10">
                <a:latin typeface="Times New Roman"/>
                <a:cs typeface="Times New Roman"/>
              </a:rPr>
              <a:t> 2021.</a:t>
            </a:r>
            <a:endParaRPr sz="1700">
              <a:latin typeface="Times New Roman"/>
              <a:cs typeface="Times New Roman"/>
            </a:endParaRPr>
          </a:p>
          <a:p>
            <a:pPr marL="12700" marR="523240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Bhoi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P.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M.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Khilar,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</a:t>
            </a:r>
            <a:r>
              <a:rPr dirty="0" sz="1700" i="1">
                <a:latin typeface="Times New Roman"/>
                <a:cs typeface="Times New Roman"/>
              </a:rPr>
              <a:t>Vehicular</a:t>
            </a:r>
            <a:r>
              <a:rPr dirty="0" sz="1700" spc="-3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Accident</a:t>
            </a:r>
            <a:r>
              <a:rPr dirty="0" sz="1700" spc="-2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Detection</a:t>
            </a:r>
            <a:r>
              <a:rPr dirty="0" sz="1700" spc="-3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and</a:t>
            </a:r>
            <a:r>
              <a:rPr dirty="0" sz="1700" spc="-2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Notification</a:t>
            </a:r>
            <a:r>
              <a:rPr dirty="0" sz="1700" spc="-2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System</a:t>
            </a:r>
            <a:r>
              <a:rPr dirty="0" sz="1700" spc="-3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Using</a:t>
            </a:r>
            <a:r>
              <a:rPr dirty="0" sz="1700" spc="-2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Smartphone</a:t>
            </a:r>
            <a:r>
              <a:rPr dirty="0" sz="1700" spc="-30" i="1">
                <a:latin typeface="Times New Roman"/>
                <a:cs typeface="Times New Roman"/>
              </a:rPr>
              <a:t> </a:t>
            </a:r>
            <a:r>
              <a:rPr dirty="0" sz="1700" spc="-25" i="1">
                <a:latin typeface="Times New Roman"/>
                <a:cs typeface="Times New Roman"/>
              </a:rPr>
              <a:t>and </a:t>
            </a:r>
            <a:r>
              <a:rPr dirty="0" sz="1700" i="1">
                <a:latin typeface="Times New Roman"/>
                <a:cs typeface="Times New Roman"/>
              </a:rPr>
              <a:t>Cloud</a:t>
            </a:r>
            <a:r>
              <a:rPr dirty="0" sz="1700">
                <a:latin typeface="Times New Roman"/>
                <a:cs typeface="Times New Roman"/>
              </a:rPr>
              <a:t>,”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IEEE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Pervasive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Computing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Communications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Workshops,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547–552,</a:t>
            </a:r>
            <a:r>
              <a:rPr dirty="0" sz="1700" spc="-10">
                <a:latin typeface="Times New Roman"/>
                <a:cs typeface="Times New Roman"/>
              </a:rPr>
              <a:t> 2018.</a:t>
            </a:r>
            <a:endParaRPr sz="1700">
              <a:latin typeface="Times New Roman"/>
              <a:cs typeface="Times New Roman"/>
            </a:endParaRPr>
          </a:p>
          <a:p>
            <a:pPr marL="12700" marR="318135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R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Patel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Shah,</a:t>
            </a:r>
            <a:r>
              <a:rPr dirty="0" sz="1700" spc="-10">
                <a:latin typeface="Times New Roman"/>
                <a:cs typeface="Times New Roman"/>
              </a:rPr>
              <a:t> “</a:t>
            </a:r>
            <a:r>
              <a:rPr dirty="0" sz="1700" spc="-10" i="1">
                <a:latin typeface="Times New Roman"/>
                <a:cs typeface="Times New Roman"/>
              </a:rPr>
              <a:t>Real-</a:t>
            </a:r>
            <a:r>
              <a:rPr dirty="0" sz="1700" i="1">
                <a:latin typeface="Times New Roman"/>
                <a:cs typeface="Times New Roman"/>
              </a:rPr>
              <a:t>Time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Accident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Detection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Using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Accelerometer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and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GSM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Technology,</a:t>
            </a:r>
            <a:r>
              <a:rPr dirty="0" sz="1700">
                <a:latin typeface="Times New Roman"/>
                <a:cs typeface="Times New Roman"/>
              </a:rPr>
              <a:t>”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Conf. </a:t>
            </a:r>
            <a:r>
              <a:rPr dirty="0" sz="1700">
                <a:latin typeface="Times New Roman"/>
                <a:cs typeface="Times New Roman"/>
              </a:rPr>
              <a:t>Smart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Computing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Electronic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Enterprise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(ICSCEE),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1–6,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2019.</a:t>
            </a:r>
            <a:endParaRPr sz="1700">
              <a:latin typeface="Times New Roman"/>
              <a:cs typeface="Times New Roman"/>
            </a:endParaRPr>
          </a:p>
          <a:p>
            <a:pPr marL="12700" marR="988694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K.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Reddy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Lakshmi,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“Implementation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Smart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Helmet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Alcohol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Accident </a:t>
            </a:r>
            <a:r>
              <a:rPr dirty="0" sz="1700">
                <a:latin typeface="Times New Roman"/>
                <a:cs typeface="Times New Roman"/>
              </a:rPr>
              <a:t>Notification,”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Int.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J.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Emerging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Technologies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and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Innovative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Research</a:t>
            </a:r>
            <a:r>
              <a:rPr dirty="0" sz="1700">
                <a:latin typeface="Times New Roman"/>
                <a:cs typeface="Times New Roman"/>
              </a:rPr>
              <a:t>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vol.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7,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5,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210–215,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2020.</a:t>
            </a:r>
            <a:endParaRPr sz="1700">
              <a:latin typeface="Times New Roman"/>
              <a:cs typeface="Times New Roman"/>
            </a:endParaRPr>
          </a:p>
          <a:p>
            <a:pPr marL="12700" marR="657860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Y.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Zhang,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Wang,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Sun,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 i="1">
                <a:latin typeface="Times New Roman"/>
                <a:cs typeface="Times New Roman"/>
              </a:rPr>
              <a:t>“Sensor-</a:t>
            </a:r>
            <a:r>
              <a:rPr dirty="0" sz="1700" i="1">
                <a:latin typeface="Times New Roman"/>
                <a:cs typeface="Times New Roman"/>
              </a:rPr>
              <a:t>Based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Intelligent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spc="-10" i="1">
                <a:latin typeface="Times New Roman"/>
                <a:cs typeface="Times New Roman"/>
              </a:rPr>
              <a:t>Transportation </a:t>
            </a:r>
            <a:r>
              <a:rPr dirty="0" sz="1700" i="1">
                <a:latin typeface="Times New Roman"/>
                <a:cs typeface="Times New Roman"/>
              </a:rPr>
              <a:t>Safety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Monitoring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Using</a:t>
            </a:r>
            <a:r>
              <a:rPr dirty="0" sz="1700" spc="-10" i="1">
                <a:latin typeface="Times New Roman"/>
                <a:cs typeface="Times New Roman"/>
              </a:rPr>
              <a:t> </a:t>
            </a:r>
            <a:r>
              <a:rPr dirty="0" sz="1700" spc="-20" i="1">
                <a:latin typeface="Times New Roman"/>
                <a:cs typeface="Times New Roman"/>
              </a:rPr>
              <a:t>MEMS </a:t>
            </a:r>
            <a:r>
              <a:rPr dirty="0" sz="1700" i="1">
                <a:latin typeface="Times New Roman"/>
                <a:cs typeface="Times New Roman"/>
              </a:rPr>
              <a:t>Technology</a:t>
            </a:r>
            <a:r>
              <a:rPr dirty="0" sz="1700">
                <a:latin typeface="Times New Roman"/>
                <a:cs typeface="Times New Roman"/>
              </a:rPr>
              <a:t>,”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IEEE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Trans.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Intelligent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Transportation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Systems,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vol.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22,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4,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2150–2159,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2021.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P.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Chauhan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Thakur,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“IoT-</a:t>
            </a:r>
            <a:r>
              <a:rPr dirty="0" sz="1700">
                <a:latin typeface="Times New Roman"/>
                <a:cs typeface="Times New Roman"/>
              </a:rPr>
              <a:t>Based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Road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Accident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Tracking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System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Using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ESP32,”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Proc.</a:t>
            </a:r>
            <a:r>
              <a:rPr dirty="0" sz="1700" spc="-20">
                <a:latin typeface="Times New Roman"/>
                <a:cs typeface="Times New Roman"/>
              </a:rPr>
              <a:t> Int. </a:t>
            </a:r>
            <a:r>
              <a:rPr dirty="0" sz="1700">
                <a:latin typeface="Times New Roman"/>
                <a:cs typeface="Times New Roman"/>
              </a:rPr>
              <a:t>Conf.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Advances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Electronics,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Communication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Computing,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320–325,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2022.</a:t>
            </a:r>
            <a:endParaRPr sz="1700">
              <a:latin typeface="Times New Roman"/>
              <a:cs typeface="Times New Roman"/>
            </a:endParaRPr>
          </a:p>
          <a:p>
            <a:pPr marL="12700" marR="150495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M.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Alaa,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Zaidan,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Zaidan,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</a:t>
            </a:r>
            <a:r>
              <a:rPr dirty="0" sz="1700" i="1">
                <a:latin typeface="Times New Roman"/>
                <a:cs typeface="Times New Roman"/>
              </a:rPr>
              <a:t>A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Review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on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Intelligent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Accident</a:t>
            </a:r>
            <a:r>
              <a:rPr dirty="0" sz="1700" spc="-20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Detection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Systems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in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i="1">
                <a:latin typeface="Times New Roman"/>
                <a:cs typeface="Times New Roman"/>
              </a:rPr>
              <a:t>Vehicular</a:t>
            </a:r>
            <a:r>
              <a:rPr dirty="0" sz="1700" spc="-15" i="1">
                <a:latin typeface="Times New Roman"/>
                <a:cs typeface="Times New Roman"/>
              </a:rPr>
              <a:t> </a:t>
            </a:r>
            <a:r>
              <a:rPr dirty="0" sz="1700" spc="-10" i="1">
                <a:latin typeface="Times New Roman"/>
                <a:cs typeface="Times New Roman"/>
              </a:rPr>
              <a:t>Networks</a:t>
            </a:r>
            <a:r>
              <a:rPr dirty="0" sz="1700" spc="-10">
                <a:latin typeface="Times New Roman"/>
                <a:cs typeface="Times New Roman"/>
              </a:rPr>
              <a:t>,” </a:t>
            </a:r>
            <a:r>
              <a:rPr dirty="0" sz="1700">
                <a:latin typeface="Times New Roman"/>
                <a:cs typeface="Times New Roman"/>
              </a:rPr>
              <a:t>Sensors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(MDPI),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vol.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23,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no.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4,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1–18,</a:t>
            </a:r>
            <a:r>
              <a:rPr dirty="0" sz="1700" spc="-10">
                <a:latin typeface="Times New Roman"/>
                <a:cs typeface="Times New Roman"/>
              </a:rPr>
              <a:t> 2023.</a:t>
            </a:r>
            <a:endParaRPr sz="1700">
              <a:latin typeface="Times New Roman"/>
              <a:cs typeface="Times New Roman"/>
            </a:endParaRPr>
          </a:p>
          <a:p>
            <a:pPr marL="12700" marR="117475">
              <a:lnSpc>
                <a:spcPct val="70000"/>
              </a:lnSpc>
              <a:spcBef>
                <a:spcPts val="1000"/>
              </a:spcBef>
            </a:pPr>
            <a:r>
              <a:rPr dirty="0" sz="1700">
                <a:latin typeface="Times New Roman"/>
                <a:cs typeface="Times New Roman"/>
              </a:rPr>
              <a:t>S.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Shinde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P.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Patil,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“Design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of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GSM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GPS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Based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Accident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Detection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System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Two-</a:t>
            </a:r>
            <a:r>
              <a:rPr dirty="0" sz="1700">
                <a:latin typeface="Times New Roman"/>
                <a:cs typeface="Times New Roman"/>
              </a:rPr>
              <a:t>Wheelers,”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5">
                <a:latin typeface="Times New Roman"/>
                <a:cs typeface="Times New Roman"/>
              </a:rPr>
              <a:t>J. </a:t>
            </a:r>
            <a:r>
              <a:rPr dirty="0" sz="1700">
                <a:latin typeface="Times New Roman"/>
                <a:cs typeface="Times New Roman"/>
              </a:rPr>
              <a:t>Advanced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Research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Electrical,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Electronics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Instrumentation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Engineering,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vol.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12,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no.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2,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pp.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89–96,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2024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3259" y="1553869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2.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3263" y="2043581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3.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3263" y="2533293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4.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3259" y="3023005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5.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3259" y="3512717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6.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3256" y="4002429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7.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3257" y="4492141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8.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3257" y="4981853"/>
            <a:ext cx="187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9.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3257" y="5471565"/>
            <a:ext cx="2952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Times New Roman"/>
                <a:cs typeface="Times New Roman"/>
              </a:rPr>
              <a:t>10.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15808" y="2545422"/>
            <a:ext cx="7822565" cy="1549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/>
              <a:t>THANK</a:t>
            </a:r>
            <a:r>
              <a:rPr dirty="0" sz="10000" spc="-215"/>
              <a:t> </a:t>
            </a:r>
            <a:r>
              <a:rPr dirty="0" sz="10000" spc="-25"/>
              <a:t>YOU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2026-04-22T16:18:52Z</dcterms:created>
  <dcterms:modified xsi:type="dcterms:W3CDTF">2026-04-22T16:18:52Z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2026-04-22T00:00:00Z</vt:filetime>
  </property>
  <property fmtid="{D5CDD505-2E9C-101B-9397-08002B2CF9AE}" pid="4" name="LastSaved">
    <vt:filetime>2026-04-22T00:00:00Z</vt:filetime>
  </property>
  <property fmtid="{D5CDD505-2E9C-101B-9397-08002B2CF9AE}" pid="5" name="Producer">
    <vt:lpwstr>Pdftools SDK</vt:lpwstr>
  </property>
</Properties>
</file>